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/>
    <p:restoredTop sz="94694"/>
  </p:normalViewPr>
  <p:slideViewPr>
    <p:cSldViewPr snapToGrid="0">
      <p:cViewPr>
        <p:scale>
          <a:sx n="121" d="100"/>
          <a:sy n="121" d="100"/>
        </p:scale>
        <p:origin x="-35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64C01-3375-59F5-7254-4BA41215C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5856A4-A005-1154-95FC-4A8DB6E47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29FDA1-6E8C-F7AE-5E3B-542E942F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8CDB81-A02B-48F8-E1CD-8983EEC6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F41C1A-5DD6-5D9A-F47E-E492AC1E5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72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132B6-63E2-01E7-3080-3B4EC36C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4F7E2-5C61-6143-A85D-B4E6621B4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B5024D-DB0E-E95D-4E10-34FC77C6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0DBE72-F7E5-D243-521F-B992D0020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5C98FA-D1CB-378D-C41E-E1609E6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499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D8DF8-104D-836D-F623-B60F272E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042033-5B4F-DB88-8F9E-27E3E360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23615A-520E-88C8-893B-59FB435D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A03B6B-6CD4-9F6C-BDCC-AEEA1AC1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1D7EAD-7C07-2B58-D72F-B5443D6A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64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7B369-48A8-9A70-A8D6-BB1D6F5B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BAFB3E-8266-A68E-2248-F27ABDCAD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F9BDB6-4480-4E47-40FF-898CC8135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BCE0A7-AF07-CFE6-E1CE-404C666A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0393DA-4FBD-3E01-8067-9CD4C009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257956-B008-C1DA-19A5-F15E2296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26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C0409A-7AD1-0423-5843-6A7554FC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1B6BE2-8E7F-F02F-1232-86F9A5AAC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201F7E-97B7-0D1F-01A2-EF869E7C8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BE2E394-78D4-B7E0-08D2-DB6555A5A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ABDD26-6AE0-DB9F-A627-6B5372F37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912EB5D-4472-0B7E-64FC-FEA94E0B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1C9A03-F598-1199-75C7-52B7809A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70199D-DE92-8C34-92DE-D6011B6D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17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B495E-56BC-AFDA-AD01-CA887100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58954A-B210-F621-EA36-0DE8AAB6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8979F4-12E6-CE84-A1AB-85294423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EDCFCC-E72C-A802-6352-5C7F6FE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77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E7D3AD-E119-A58B-D916-42074D73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85C0B6-C6D6-8D79-4912-8DDD9AEB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A4B10-6F8C-F3C4-9379-506EB087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5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5DB20-0FD7-B9F9-B8AC-06DE7801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42E59E-EC57-DF5E-3B8D-8A61B79AA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8070F1-DD47-53D8-2286-42AC1EAFA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EE889F-D798-49EF-BFBA-B67FF705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EA9D56-DE2F-42B2-1438-1B163E53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9BDDEC-77E7-6711-EB25-4009E4FD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23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07CDC-4E31-4831-7E6C-BAED3505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633762-76FD-8345-AFAB-E2664E4C4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D347F1-C6F1-FAC8-0B8D-BC1FD9F0E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F81D8F-AD9D-E4A8-54CD-9AE71DD1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90411A-17D9-4083-13FD-5CE6EC65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C1CA48-BF1F-7A19-97BC-0FB6FAD6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13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5E388-7AC5-8082-CE21-57CCF3B2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6DCE1A-827F-A2EA-8BC7-A135C7B88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0A960A-4DC7-7AE5-E8EA-6078B566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B514D3-C432-3A93-179B-BB818A4F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AE7F70-CFBF-51B1-37A4-B32BDDDC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01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6EBED8-3773-BA90-C052-AA95C1F0B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B54802-EAF9-E4B6-8372-3A209F75E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2871FA-251D-9A85-8867-FFE68315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6E6910-5EB0-828A-B374-8EE64239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CF28B7-92FB-52FE-BCD1-B55AD5B9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06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35B83D-E9DD-4E2A-97B2-5839A778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04D41F-8324-F46C-E43B-E49DBDD09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35470F-3330-8A67-40A3-67AE3E443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F7A8C-EE9E-1843-912F-146EDE9089FC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D54727-B357-29C5-37EE-527E8AE57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DE4E49-9297-DC13-0304-81329BEF0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A4C33-C027-B84F-8676-29B0B745CD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90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141C5023-AF5A-1ECF-574A-C2FDA06CE407}"/>
              </a:ext>
            </a:extLst>
          </p:cNvPr>
          <p:cNvSpPr/>
          <p:nvPr/>
        </p:nvSpPr>
        <p:spPr>
          <a:xfrm>
            <a:off x="8195082" y="145343"/>
            <a:ext cx="2554879" cy="3877734"/>
          </a:xfrm>
          <a:prstGeom prst="roundRect">
            <a:avLst>
              <a:gd name="adj" fmla="val 103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F4D4B922-F342-A99B-7EE6-41DEA0B1CE49}"/>
              </a:ext>
            </a:extLst>
          </p:cNvPr>
          <p:cNvSpPr/>
          <p:nvPr/>
        </p:nvSpPr>
        <p:spPr>
          <a:xfrm>
            <a:off x="4352570" y="169333"/>
            <a:ext cx="2554879" cy="3877734"/>
          </a:xfrm>
          <a:prstGeom prst="roundRect">
            <a:avLst>
              <a:gd name="adj" fmla="val 103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AD27C46-A62E-BF79-75DE-227F04A4A0C4}"/>
              </a:ext>
            </a:extLst>
          </p:cNvPr>
          <p:cNvSpPr/>
          <p:nvPr/>
        </p:nvSpPr>
        <p:spPr>
          <a:xfrm>
            <a:off x="728133" y="169333"/>
            <a:ext cx="2554879" cy="3877734"/>
          </a:xfrm>
          <a:prstGeom prst="roundRect">
            <a:avLst>
              <a:gd name="adj" fmla="val 103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6617E62-7EE3-A8C9-9031-16B323911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59" r="5530"/>
          <a:stretch>
            <a:fillRect/>
          </a:stretch>
        </p:blipFill>
        <p:spPr>
          <a:xfrm>
            <a:off x="4442178" y="279400"/>
            <a:ext cx="2342645" cy="36096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3B44546C-82D4-0BFC-C328-2888AAB79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66" t="2959" r="4981"/>
          <a:stretch>
            <a:fillRect/>
          </a:stretch>
        </p:blipFill>
        <p:spPr>
          <a:xfrm>
            <a:off x="829733" y="279400"/>
            <a:ext cx="2322394" cy="3609620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3E137919-4227-417A-CDD0-ADC9C277D5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959" r="5530"/>
          <a:stretch>
            <a:fillRect/>
          </a:stretch>
        </p:blipFill>
        <p:spPr>
          <a:xfrm>
            <a:off x="8246532" y="279400"/>
            <a:ext cx="2342645" cy="360962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43D8037-15E1-6DC0-C935-CB19D739804F}"/>
              </a:ext>
            </a:extLst>
          </p:cNvPr>
          <p:cNvSpPr txBox="1"/>
          <p:nvPr/>
        </p:nvSpPr>
        <p:spPr>
          <a:xfrm>
            <a:off x="1006428" y="436082"/>
            <a:ext cx="7389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Verbaux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12C177-B504-8001-593C-9921A59D2E9E}"/>
              </a:ext>
            </a:extLst>
          </p:cNvPr>
          <p:cNvSpPr txBox="1"/>
          <p:nvPr/>
        </p:nvSpPr>
        <p:spPr>
          <a:xfrm>
            <a:off x="8390962" y="436082"/>
            <a:ext cx="873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 verbaux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2202AC9-61EA-AA17-805F-035945D266FA}"/>
              </a:ext>
            </a:extLst>
          </p:cNvPr>
          <p:cNvSpPr txBox="1"/>
          <p:nvPr/>
        </p:nvSpPr>
        <p:spPr>
          <a:xfrm>
            <a:off x="4600222" y="443776"/>
            <a:ext cx="873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Contextuels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F1C8999-9EF2-FC21-C773-4C07019B0FD2}"/>
              </a:ext>
            </a:extLst>
          </p:cNvPr>
          <p:cNvSpPr txBox="1"/>
          <p:nvPr/>
        </p:nvSpPr>
        <p:spPr>
          <a:xfrm>
            <a:off x="1615858" y="1052186"/>
            <a:ext cx="1002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Famille d’indices</a:t>
            </a:r>
            <a:br>
              <a:rPr lang="fr-FR" sz="800" dirty="0"/>
            </a:br>
            <a:r>
              <a:rPr lang="fr-FR" sz="800" b="1" dirty="0"/>
              <a:t>Indice à entendre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8001355-BB9A-7316-EDB6-85AC49069692}"/>
              </a:ext>
            </a:extLst>
          </p:cNvPr>
          <p:cNvSpPr txBox="1"/>
          <p:nvPr/>
        </p:nvSpPr>
        <p:spPr>
          <a:xfrm>
            <a:off x="1465677" y="3356429"/>
            <a:ext cx="144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Cartes à associer avec d’autres indices. </a:t>
            </a:r>
            <a:br>
              <a:rPr lang="fr-FR" sz="500" dirty="0"/>
            </a:br>
            <a:r>
              <a:rPr lang="fr-FR" sz="500" dirty="0">
                <a:solidFill>
                  <a:schemeClr val="bg1">
                    <a:lumMod val="65000"/>
                  </a:schemeClr>
                </a:solidFill>
              </a:rPr>
              <a:t>Pas de conclusion isolée : on croise ce qui est dit, vu, vécu.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70794C1-9049-110F-05B6-AFFF38B0A03D}"/>
              </a:ext>
            </a:extLst>
          </p:cNvPr>
          <p:cNvSpPr txBox="1"/>
          <p:nvPr/>
        </p:nvSpPr>
        <p:spPr>
          <a:xfrm>
            <a:off x="1081313" y="3679594"/>
            <a:ext cx="6640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dirty="0">
                <a:solidFill>
                  <a:schemeClr val="bg1"/>
                </a:solidFill>
              </a:rPr>
              <a:t>Stress probable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70A042B-A9B7-6BBB-D7C6-D7CF20D2CC10}"/>
              </a:ext>
            </a:extLst>
          </p:cNvPr>
          <p:cNvSpPr txBox="1"/>
          <p:nvPr/>
        </p:nvSpPr>
        <p:spPr>
          <a:xfrm>
            <a:off x="5067870" y="3356428"/>
            <a:ext cx="144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Cartes à associer avec d’autres indices. </a:t>
            </a:r>
            <a:br>
              <a:rPr lang="fr-FR" sz="500" dirty="0"/>
            </a:br>
            <a:r>
              <a:rPr lang="fr-FR" sz="500" dirty="0">
                <a:solidFill>
                  <a:schemeClr val="bg1">
                    <a:lumMod val="65000"/>
                  </a:schemeClr>
                </a:solidFill>
              </a:rPr>
              <a:t>Pas de conclusion isolée : on croise ce qui est dit, vu, vécu.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87DC644-5D1C-5424-0B29-B3682BC4EE37}"/>
              </a:ext>
            </a:extLst>
          </p:cNvPr>
          <p:cNvSpPr txBox="1"/>
          <p:nvPr/>
        </p:nvSpPr>
        <p:spPr>
          <a:xfrm>
            <a:off x="8938966" y="3356427"/>
            <a:ext cx="144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Cartes à associer avec d’autres indices. </a:t>
            </a:r>
            <a:br>
              <a:rPr lang="fr-FR" sz="500" dirty="0"/>
            </a:br>
            <a:r>
              <a:rPr lang="fr-FR" sz="500" dirty="0">
                <a:solidFill>
                  <a:schemeClr val="bg1">
                    <a:lumMod val="65000"/>
                  </a:schemeClr>
                </a:solidFill>
              </a:rPr>
              <a:t>Pas de conclusion isolée : on croise ce qui est dit, vu, vécu.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BA719F-08C0-14BE-5C5D-2A14823EF871}"/>
              </a:ext>
            </a:extLst>
          </p:cNvPr>
          <p:cNvSpPr txBox="1"/>
          <p:nvPr/>
        </p:nvSpPr>
        <p:spPr>
          <a:xfrm>
            <a:off x="4729497" y="3679592"/>
            <a:ext cx="6640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dirty="0">
                <a:solidFill>
                  <a:schemeClr val="bg1"/>
                </a:solidFill>
              </a:rPr>
              <a:t>Stress probable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8A9DCDB-7CA9-87DD-1A0A-704B32173B04}"/>
              </a:ext>
            </a:extLst>
          </p:cNvPr>
          <p:cNvSpPr txBox="1"/>
          <p:nvPr/>
        </p:nvSpPr>
        <p:spPr>
          <a:xfrm>
            <a:off x="8522563" y="3679592"/>
            <a:ext cx="6640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dirty="0">
                <a:solidFill>
                  <a:schemeClr val="bg1"/>
                </a:solidFill>
              </a:rPr>
              <a:t>Stress probable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D2CFBC5-144F-ED19-FEB5-73544A182833}"/>
              </a:ext>
            </a:extLst>
          </p:cNvPr>
          <p:cNvSpPr txBox="1"/>
          <p:nvPr/>
        </p:nvSpPr>
        <p:spPr>
          <a:xfrm>
            <a:off x="5291263" y="1052186"/>
            <a:ext cx="941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Famille d’indices</a:t>
            </a:r>
            <a:br>
              <a:rPr lang="fr-FR" sz="800" dirty="0"/>
            </a:br>
            <a:r>
              <a:rPr lang="fr-FR" sz="800" b="1" dirty="0"/>
              <a:t>Indice à relier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921DB42-C525-F3B7-6119-B411AB295FE6}"/>
              </a:ext>
            </a:extLst>
          </p:cNvPr>
          <p:cNvSpPr txBox="1"/>
          <p:nvPr/>
        </p:nvSpPr>
        <p:spPr>
          <a:xfrm>
            <a:off x="9162359" y="1052186"/>
            <a:ext cx="990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Famille d’indices</a:t>
            </a:r>
            <a:br>
              <a:rPr lang="fr-FR" sz="800" dirty="0"/>
            </a:br>
            <a:r>
              <a:rPr lang="fr-FR" sz="800" b="1" dirty="0"/>
              <a:t>Indice à observer</a:t>
            </a:r>
          </a:p>
        </p:txBody>
      </p:sp>
      <p:pic>
        <p:nvPicPr>
          <p:cNvPr id="26" name="Graphique 25" descr="Oreille contour">
            <a:extLst>
              <a:ext uri="{FF2B5EF4-FFF2-40B4-BE49-F238E27FC236}">
                <a16:creationId xmlns:a16="http://schemas.microsoft.com/office/drawing/2014/main" id="{1595E894-1656-DD36-7E43-51F6E64021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1313" y="949052"/>
            <a:ext cx="411574" cy="411574"/>
          </a:xfrm>
          <a:prstGeom prst="rect">
            <a:avLst/>
          </a:prstGeom>
        </p:spPr>
      </p:pic>
      <p:pic>
        <p:nvPicPr>
          <p:cNvPr id="30" name="Graphique 29" descr="Œil contour">
            <a:extLst>
              <a:ext uri="{FF2B5EF4-FFF2-40B4-BE49-F238E27FC236}">
                <a16:creationId xmlns:a16="http://schemas.microsoft.com/office/drawing/2014/main" id="{6C7690E4-24AD-DC64-AFBA-131718FDA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22563" y="985561"/>
            <a:ext cx="405363" cy="338555"/>
          </a:xfrm>
          <a:prstGeom prst="rect">
            <a:avLst/>
          </a:prstGeom>
        </p:spPr>
      </p:pic>
      <p:pic>
        <p:nvPicPr>
          <p:cNvPr id="32" name="Graphique 31" descr="Connecté contour">
            <a:extLst>
              <a:ext uri="{FF2B5EF4-FFF2-40B4-BE49-F238E27FC236}">
                <a16:creationId xmlns:a16="http://schemas.microsoft.com/office/drawing/2014/main" id="{4EA085BA-3904-DF4E-46FC-4532403148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44721" y="968219"/>
            <a:ext cx="355897" cy="355897"/>
          </a:xfrm>
          <a:prstGeom prst="rect">
            <a:avLst/>
          </a:prstGeom>
        </p:spPr>
      </p:pic>
      <p:pic>
        <p:nvPicPr>
          <p:cNvPr id="37" name="Graphique 36" descr="Gribouille contour">
            <a:extLst>
              <a:ext uri="{FF2B5EF4-FFF2-40B4-BE49-F238E27FC236}">
                <a16:creationId xmlns:a16="http://schemas.microsoft.com/office/drawing/2014/main" id="{6840413D-6194-E39A-779F-70101A5089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4660068">
            <a:off x="2729922" y="5799409"/>
            <a:ext cx="263987" cy="26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7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E252310-35F0-1000-3520-951E15CE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194"/>
            <a:ext cx="1861618" cy="2801553"/>
          </a:xfrm>
          <a:prstGeom prst="rect">
            <a:avLst/>
          </a:prstGeom>
        </p:spPr>
      </p:pic>
      <p:pic>
        <p:nvPicPr>
          <p:cNvPr id="11" name="Image 10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90A7F602-8CF3-91EB-1097-F6E0FEA7B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78" y="150194"/>
            <a:ext cx="1861618" cy="2801553"/>
          </a:xfrm>
          <a:prstGeom prst="rect">
            <a:avLst/>
          </a:prstGeom>
        </p:spPr>
      </p:pic>
      <p:pic>
        <p:nvPicPr>
          <p:cNvPr id="12" name="Image 1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F159E89-95E4-A1BF-F7AB-B6276CA19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636" y="150194"/>
            <a:ext cx="1861618" cy="2801553"/>
          </a:xfrm>
          <a:prstGeom prst="rect">
            <a:avLst/>
          </a:prstGeom>
        </p:spPr>
      </p:pic>
      <p:pic>
        <p:nvPicPr>
          <p:cNvPr id="13" name="Image 12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AD5C35E0-87E7-3E38-B5D6-F99D266F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294" y="150194"/>
            <a:ext cx="1861618" cy="2801553"/>
          </a:xfrm>
          <a:prstGeom prst="rect">
            <a:avLst/>
          </a:prstGeom>
        </p:spPr>
      </p:pic>
      <p:pic>
        <p:nvPicPr>
          <p:cNvPr id="14" name="Image 1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BCC2D3A-36C5-F25F-8491-BFFDEA69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08" y="150194"/>
            <a:ext cx="1861618" cy="2801553"/>
          </a:xfrm>
          <a:prstGeom prst="rect">
            <a:avLst/>
          </a:prstGeom>
        </p:spPr>
      </p:pic>
      <p:pic>
        <p:nvPicPr>
          <p:cNvPr id="15" name="Image 1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AD4E92D3-6B7F-706A-4953-D54938F1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29000"/>
            <a:ext cx="1861618" cy="2801553"/>
          </a:xfrm>
          <a:prstGeom prst="rect">
            <a:avLst/>
          </a:prstGeom>
        </p:spPr>
      </p:pic>
      <p:pic>
        <p:nvPicPr>
          <p:cNvPr id="16" name="Image 1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A2CE54F-4245-8ED2-7ECD-3494A315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78" y="3429000"/>
            <a:ext cx="1861618" cy="2801553"/>
          </a:xfrm>
          <a:prstGeom prst="rect">
            <a:avLst/>
          </a:prstGeom>
        </p:spPr>
      </p:pic>
      <p:pic>
        <p:nvPicPr>
          <p:cNvPr id="17" name="Image 16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15B06D3-DE1F-7593-5D54-3B106B1A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318" y="3428999"/>
            <a:ext cx="1861618" cy="2801553"/>
          </a:xfrm>
          <a:prstGeom prst="rect">
            <a:avLst/>
          </a:prstGeom>
        </p:spPr>
      </p:pic>
      <p:pic>
        <p:nvPicPr>
          <p:cNvPr id="18" name="Image 1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BA46773-EFE1-31AD-C59B-F914DC86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294" y="3428998"/>
            <a:ext cx="1861618" cy="2801553"/>
          </a:xfrm>
          <a:prstGeom prst="rect">
            <a:avLst/>
          </a:prstGeom>
        </p:spPr>
      </p:pic>
      <p:pic>
        <p:nvPicPr>
          <p:cNvPr id="19" name="Image 1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9335B159-5D6A-73F0-3942-607A2AB4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08" y="3428998"/>
            <a:ext cx="1861618" cy="280155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F9EE2611-932E-7859-BB40-C77CBD368BE6}"/>
              </a:ext>
            </a:extLst>
          </p:cNvPr>
          <p:cNvSpPr txBox="1"/>
          <p:nvPr/>
        </p:nvSpPr>
        <p:spPr>
          <a:xfrm>
            <a:off x="504537" y="1427859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n’y arriverai pas. »</a:t>
            </a:r>
            <a:endParaRPr lang="fr-FR" sz="10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CC7D256-539B-7557-68EF-7383A01A712B}"/>
              </a:ext>
            </a:extLst>
          </p:cNvPr>
          <p:cNvSpPr txBox="1"/>
          <p:nvPr/>
        </p:nvSpPr>
        <p:spPr>
          <a:xfrm>
            <a:off x="2686195" y="1416127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C’est trop difficile. »</a:t>
            </a:r>
            <a:endParaRPr lang="fr-FR" sz="10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AA05B3F-9565-8FF1-5255-286C3A38437C}"/>
              </a:ext>
            </a:extLst>
          </p:cNvPr>
          <p:cNvSpPr txBox="1"/>
          <p:nvPr/>
        </p:nvSpPr>
        <p:spPr>
          <a:xfrm>
            <a:off x="4867853" y="1416126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ne veux pas passer / lire à voix haute. »</a:t>
            </a:r>
            <a:endParaRPr lang="fr-FR" sz="10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D5B6B8-A11C-C171-E155-830E089C07F8}"/>
              </a:ext>
            </a:extLst>
          </p:cNvPr>
          <p:cNvSpPr txBox="1"/>
          <p:nvPr/>
        </p:nvSpPr>
        <p:spPr>
          <a:xfrm>
            <a:off x="7049511" y="1427859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J’ai mal au ventre. »</a:t>
            </a:r>
            <a:endParaRPr lang="fr-FR" sz="10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8266183-E269-EEAE-A2AC-EA94380EBF60}"/>
              </a:ext>
            </a:extLst>
          </p:cNvPr>
          <p:cNvSpPr txBox="1"/>
          <p:nvPr/>
        </p:nvSpPr>
        <p:spPr>
          <a:xfrm>
            <a:off x="519697" y="4706663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ne sais plus. »</a:t>
            </a:r>
            <a:endParaRPr lang="fr-FR" sz="10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91B06F8-BB97-8B84-13BE-CE118665E482}"/>
              </a:ext>
            </a:extLst>
          </p:cNvPr>
          <p:cNvSpPr txBox="1"/>
          <p:nvPr/>
        </p:nvSpPr>
        <p:spPr>
          <a:xfrm>
            <a:off x="2655878" y="4706662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J’ai peur de rater. »</a:t>
            </a:r>
            <a:endParaRPr lang="fr-FR" sz="10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23CA777-8BAF-CF97-0363-2FA6DD4977C8}"/>
              </a:ext>
            </a:extLst>
          </p:cNvPr>
          <p:cNvSpPr txBox="1"/>
          <p:nvPr/>
        </p:nvSpPr>
        <p:spPr>
          <a:xfrm>
            <a:off x="4867853" y="4598939"/>
            <a:ext cx="1323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veux recommencer, ce n’est pas assez bien. »</a:t>
            </a:r>
            <a:endParaRPr lang="fr-FR" sz="10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E5C54C8-9417-AB2B-FAEF-65C460C36648}"/>
              </a:ext>
            </a:extLst>
          </p:cNvPr>
          <p:cNvSpPr txBox="1"/>
          <p:nvPr/>
        </p:nvSpPr>
        <p:spPr>
          <a:xfrm>
            <a:off x="7049510" y="4706661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ne veux pas être avec le groupe. »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60F20C0-CCA0-F3D7-DE90-8BB2410EEB1D}"/>
              </a:ext>
            </a:extLst>
          </p:cNvPr>
          <p:cNvSpPr txBox="1"/>
          <p:nvPr/>
        </p:nvSpPr>
        <p:spPr>
          <a:xfrm>
            <a:off x="9152725" y="1416125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veux aller à l’infirmerie / rentrer. »</a:t>
            </a:r>
            <a:endParaRPr lang="fr-FR" sz="10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537D75A-E7D2-E498-4F87-9F27A5B78CDF}"/>
              </a:ext>
            </a:extLst>
          </p:cNvPr>
          <p:cNvSpPr txBox="1"/>
          <p:nvPr/>
        </p:nvSpPr>
        <p:spPr>
          <a:xfrm>
            <a:off x="9152724" y="4713696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ça sert à rien et c’est trop nul ce qu’on fait»</a:t>
            </a:r>
            <a:endParaRPr lang="fr-FR" sz="10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A0FB38-A863-A081-75F5-FB13F3FF7737}"/>
              </a:ext>
            </a:extLst>
          </p:cNvPr>
          <p:cNvSpPr txBox="1"/>
          <p:nvPr/>
        </p:nvSpPr>
        <p:spPr>
          <a:xfrm>
            <a:off x="1577699" y="3966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58C4720-B455-AC50-3595-AB68A4FD3163}"/>
              </a:ext>
            </a:extLst>
          </p:cNvPr>
          <p:cNvSpPr txBox="1"/>
          <p:nvPr/>
        </p:nvSpPr>
        <p:spPr>
          <a:xfrm>
            <a:off x="3740267" y="3966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ED8D6B93-9253-3135-660B-3C7DC8360FFF}"/>
              </a:ext>
            </a:extLst>
          </p:cNvPr>
          <p:cNvSpPr txBox="1"/>
          <p:nvPr/>
        </p:nvSpPr>
        <p:spPr>
          <a:xfrm>
            <a:off x="5926186" y="40170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3212289-A207-6E65-71FF-B1190CBCBBA4}"/>
              </a:ext>
            </a:extLst>
          </p:cNvPr>
          <p:cNvSpPr txBox="1"/>
          <p:nvPr/>
        </p:nvSpPr>
        <p:spPr>
          <a:xfrm>
            <a:off x="1577699" y="3675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2C9578A7-201D-1557-98CC-B34894705EB5}"/>
              </a:ext>
            </a:extLst>
          </p:cNvPr>
          <p:cNvSpPr txBox="1"/>
          <p:nvPr/>
        </p:nvSpPr>
        <p:spPr>
          <a:xfrm>
            <a:off x="3750151" y="3675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7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F9445C6-348E-2709-AD13-88F7DF0D6644}"/>
              </a:ext>
            </a:extLst>
          </p:cNvPr>
          <p:cNvSpPr txBox="1"/>
          <p:nvPr/>
        </p:nvSpPr>
        <p:spPr>
          <a:xfrm>
            <a:off x="5926186" y="36752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09B745C-D0F3-DB59-53EF-45E617E987EE}"/>
              </a:ext>
            </a:extLst>
          </p:cNvPr>
          <p:cNvSpPr txBox="1"/>
          <p:nvPr/>
        </p:nvSpPr>
        <p:spPr>
          <a:xfrm>
            <a:off x="8123771" y="38887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77C62F7-0EAD-35BE-8F60-A263587AFCFB}"/>
              </a:ext>
            </a:extLst>
          </p:cNvPr>
          <p:cNvSpPr txBox="1"/>
          <p:nvPr/>
        </p:nvSpPr>
        <p:spPr>
          <a:xfrm>
            <a:off x="8123771" y="36752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9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DA22372-140D-FC09-E033-0A41A98B2EC2}"/>
              </a:ext>
            </a:extLst>
          </p:cNvPr>
          <p:cNvSpPr txBox="1"/>
          <p:nvPr/>
        </p:nvSpPr>
        <p:spPr>
          <a:xfrm>
            <a:off x="10231777" y="381361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0D211A6-6016-6833-F676-6D2410696C22}"/>
              </a:ext>
            </a:extLst>
          </p:cNvPr>
          <p:cNvSpPr txBox="1"/>
          <p:nvPr/>
        </p:nvSpPr>
        <p:spPr>
          <a:xfrm>
            <a:off x="10194107" y="3675212"/>
            <a:ext cx="3353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10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94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FB3F05C-7B27-D8F4-E713-30561EF4C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25" y="382270"/>
            <a:ext cx="1861618" cy="280155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064ED90-0519-9A3E-8BE8-A5B70CCAA041}"/>
              </a:ext>
            </a:extLst>
          </p:cNvPr>
          <p:cNvSpPr txBox="1"/>
          <p:nvPr/>
        </p:nvSpPr>
        <p:spPr>
          <a:xfrm>
            <a:off x="543942" y="1659932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Se tortille ou s’agite sur sa chaise – bouge beaucoup</a:t>
            </a:r>
            <a:endParaRPr lang="fr-FR" sz="1000" dirty="0"/>
          </a:p>
        </p:txBody>
      </p:sp>
      <p:pic>
        <p:nvPicPr>
          <p:cNvPr id="16" name="Image 1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05C2E1C-8BDF-DFB8-6C4E-15BD89364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50" y="382270"/>
            <a:ext cx="1861618" cy="280155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668BE10-D883-4CE7-DB8E-E2F18500A0DA}"/>
              </a:ext>
            </a:extLst>
          </p:cNvPr>
          <p:cNvSpPr txBox="1"/>
          <p:nvPr/>
        </p:nvSpPr>
        <p:spPr>
          <a:xfrm>
            <a:off x="2778167" y="1659932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Évite le regard, se replie, se fait tout petit</a:t>
            </a:r>
            <a:endParaRPr lang="fr-FR" sz="1000" dirty="0"/>
          </a:p>
        </p:txBody>
      </p:sp>
      <p:pic>
        <p:nvPicPr>
          <p:cNvPr id="18" name="Image 1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93E46D03-3C51-5A8B-C3B5-8730CBD05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176" y="382270"/>
            <a:ext cx="1861618" cy="280155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5BD4E94-E129-E1DE-6C2D-65A7EDF551D7}"/>
              </a:ext>
            </a:extLst>
          </p:cNvPr>
          <p:cNvSpPr txBox="1"/>
          <p:nvPr/>
        </p:nvSpPr>
        <p:spPr>
          <a:xfrm>
            <a:off x="5012393" y="165993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Rougit, transpire ou tremble</a:t>
            </a:r>
            <a:endParaRPr lang="fr-FR" sz="1000" dirty="0"/>
          </a:p>
        </p:txBody>
      </p:sp>
      <p:pic>
        <p:nvPicPr>
          <p:cNvPr id="20" name="Image 1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5130082-7A1A-C33B-73A2-6717D96F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544" y="382265"/>
            <a:ext cx="1861618" cy="280155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2E2DA8BB-471B-9001-7AF5-76F9309669A7}"/>
              </a:ext>
            </a:extLst>
          </p:cNvPr>
          <p:cNvSpPr txBox="1"/>
          <p:nvPr/>
        </p:nvSpPr>
        <p:spPr>
          <a:xfrm>
            <a:off x="7332761" y="1659927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Respire vite, semble à bout de souffle</a:t>
            </a:r>
            <a:endParaRPr lang="fr-FR" sz="1000" dirty="0"/>
          </a:p>
        </p:txBody>
      </p:sp>
      <p:pic>
        <p:nvPicPr>
          <p:cNvPr id="22" name="Image 2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32908A6-5894-C6FB-B079-B3A86A5F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833" y="382260"/>
            <a:ext cx="1861618" cy="280155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787A78C-8CEA-3766-1251-21DBEBC242A4}"/>
              </a:ext>
            </a:extLst>
          </p:cNvPr>
          <p:cNvSpPr txBox="1"/>
          <p:nvPr/>
        </p:nvSpPr>
        <p:spPr>
          <a:xfrm>
            <a:off x="9644050" y="165992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Se fige, serre les poings, corps tendu</a:t>
            </a:r>
            <a:endParaRPr lang="fr-FR" sz="1000" dirty="0"/>
          </a:p>
        </p:txBody>
      </p:sp>
      <p:pic>
        <p:nvPicPr>
          <p:cNvPr id="24" name="Image 2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529EA75-A629-0D3B-232D-E0890871D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" y="3429010"/>
            <a:ext cx="1861618" cy="2801553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44E25FE7-A6B0-9D88-4096-973C8E48C33B}"/>
              </a:ext>
            </a:extLst>
          </p:cNvPr>
          <p:cNvSpPr txBox="1"/>
          <p:nvPr/>
        </p:nvSpPr>
        <p:spPr>
          <a:xfrm>
            <a:off x="564068" y="470667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Se figer quant on l’interroge</a:t>
            </a:r>
          </a:p>
        </p:txBody>
      </p:sp>
      <p:pic>
        <p:nvPicPr>
          <p:cNvPr id="26" name="Image 2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1AB2CB4-33AD-4CC4-650B-2FE3D45F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076" y="3429010"/>
            <a:ext cx="1861618" cy="2801553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65F4D224-0C39-EF29-D49E-BC19B64F8931}"/>
              </a:ext>
            </a:extLst>
          </p:cNvPr>
          <p:cNvSpPr txBox="1"/>
          <p:nvPr/>
        </p:nvSpPr>
        <p:spPr>
          <a:xfrm>
            <a:off x="2798293" y="470667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pleurer ou retenir ses larmes</a:t>
            </a:r>
            <a:endParaRPr lang="fr-FR" sz="1000" dirty="0"/>
          </a:p>
        </p:txBody>
      </p:sp>
      <p:pic>
        <p:nvPicPr>
          <p:cNvPr id="28" name="Image 2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43661AB-72AF-A838-D2E3-D1EB716C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302" y="3429010"/>
            <a:ext cx="1861618" cy="2801553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135185E-9A57-0A02-DB3A-2CB463594BF6}"/>
              </a:ext>
            </a:extLst>
          </p:cNvPr>
          <p:cNvSpPr txBox="1"/>
          <p:nvPr/>
        </p:nvSpPr>
        <p:spPr>
          <a:xfrm>
            <a:off x="5032519" y="470667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Lenteur excessive par peur de se tromper</a:t>
            </a:r>
            <a:endParaRPr lang="fr-FR" sz="1000" dirty="0"/>
          </a:p>
        </p:txBody>
      </p:sp>
      <p:pic>
        <p:nvPicPr>
          <p:cNvPr id="30" name="Image 2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BF5264E-5E5D-8659-8762-953CD9DF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70" y="3429005"/>
            <a:ext cx="1861618" cy="2801553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1BA497A6-589D-1460-770C-AD75FA463764}"/>
              </a:ext>
            </a:extLst>
          </p:cNvPr>
          <p:cNvSpPr txBox="1"/>
          <p:nvPr/>
        </p:nvSpPr>
        <p:spPr>
          <a:xfrm>
            <a:off x="7352887" y="470666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Effacer et recommencer sans cesse</a:t>
            </a:r>
          </a:p>
        </p:txBody>
      </p:sp>
      <p:pic>
        <p:nvPicPr>
          <p:cNvPr id="32" name="Image 3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7486954D-13BC-584B-5845-A86837ED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038" y="3429005"/>
            <a:ext cx="1861618" cy="280155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8D0444D-723B-E0C8-980D-4745076FEAD3}"/>
              </a:ext>
            </a:extLst>
          </p:cNvPr>
          <p:cNvSpPr txBox="1"/>
          <p:nvPr/>
        </p:nvSpPr>
        <p:spPr>
          <a:xfrm>
            <a:off x="9664176" y="4706662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Se ronger les ongles</a:t>
            </a:r>
            <a:endParaRPr lang="fr-FR" sz="10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A3BE0B1-606C-A9A2-53B5-342EA6052B71}"/>
              </a:ext>
            </a:extLst>
          </p:cNvPr>
          <p:cNvSpPr txBox="1"/>
          <p:nvPr/>
        </p:nvSpPr>
        <p:spPr>
          <a:xfrm>
            <a:off x="1589291" y="6426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F62ED2B3-E69A-E175-4163-3F50C9FD6690}"/>
              </a:ext>
            </a:extLst>
          </p:cNvPr>
          <p:cNvSpPr txBox="1"/>
          <p:nvPr/>
        </p:nvSpPr>
        <p:spPr>
          <a:xfrm>
            <a:off x="3844400" y="63495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4BCE467-DF3B-D481-3F1F-A6E262F2F8E3}"/>
              </a:ext>
            </a:extLst>
          </p:cNvPr>
          <p:cNvSpPr txBox="1"/>
          <p:nvPr/>
        </p:nvSpPr>
        <p:spPr>
          <a:xfrm>
            <a:off x="6024227" y="6426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0769517-CBA2-B209-3000-38880EBD450C}"/>
              </a:ext>
            </a:extLst>
          </p:cNvPr>
          <p:cNvSpPr txBox="1"/>
          <p:nvPr/>
        </p:nvSpPr>
        <p:spPr>
          <a:xfrm>
            <a:off x="1589291" y="3687417"/>
            <a:ext cx="26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CC32380-3C39-572D-FD12-0BFBE487E16C}"/>
              </a:ext>
            </a:extLst>
          </p:cNvPr>
          <p:cNvSpPr txBox="1"/>
          <p:nvPr/>
        </p:nvSpPr>
        <p:spPr>
          <a:xfrm>
            <a:off x="3846258" y="3687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7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093FFC9-2BBD-5B80-5222-5AD6C9700341}"/>
              </a:ext>
            </a:extLst>
          </p:cNvPr>
          <p:cNvSpPr txBox="1"/>
          <p:nvPr/>
        </p:nvSpPr>
        <p:spPr>
          <a:xfrm>
            <a:off x="6096000" y="3687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FE1890C-DDCE-AD20-268E-CF15E7F74C94}"/>
              </a:ext>
            </a:extLst>
          </p:cNvPr>
          <p:cNvSpPr txBox="1"/>
          <p:nvPr/>
        </p:nvSpPr>
        <p:spPr>
          <a:xfrm>
            <a:off x="8379039" y="65527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BBE32B8-E38D-09E2-5EB8-70604C087DA8}"/>
              </a:ext>
            </a:extLst>
          </p:cNvPr>
          <p:cNvSpPr txBox="1"/>
          <p:nvPr/>
        </p:nvSpPr>
        <p:spPr>
          <a:xfrm>
            <a:off x="8410288" y="3687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9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11680BF-65CD-B71D-0CBF-8BF1047A836D}"/>
              </a:ext>
            </a:extLst>
          </p:cNvPr>
          <p:cNvSpPr txBox="1"/>
          <p:nvPr/>
        </p:nvSpPr>
        <p:spPr>
          <a:xfrm>
            <a:off x="10699270" y="6426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806BCF7-8ECA-1801-DD0D-64E4185152B8}"/>
              </a:ext>
            </a:extLst>
          </p:cNvPr>
          <p:cNvSpPr txBox="1"/>
          <p:nvPr/>
        </p:nvSpPr>
        <p:spPr>
          <a:xfrm>
            <a:off x="10661599" y="3687417"/>
            <a:ext cx="3353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10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47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91540DFF-4683-F7EC-556D-FBC6F20E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4" y="67618"/>
            <a:ext cx="1861617" cy="28292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FCF96FC-DC33-A754-C9D4-F24BC124F3BD}"/>
              </a:ext>
            </a:extLst>
          </p:cNvPr>
          <p:cNvSpPr txBox="1"/>
          <p:nvPr/>
        </p:nvSpPr>
        <p:spPr>
          <a:xfrm>
            <a:off x="916196" y="128220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Prise de parole ou lecture devant la classe</a:t>
            </a:r>
            <a:endParaRPr lang="fr-FR" sz="1000" dirty="0"/>
          </a:p>
        </p:txBody>
      </p:sp>
      <p:pic>
        <p:nvPicPr>
          <p:cNvPr id="7" name="Image 6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01CB1670-A2D8-04D1-E4B6-43387FE5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65" y="67618"/>
            <a:ext cx="1861617" cy="282928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21C16F7-7864-21F0-D59F-875BFCBF1BDD}"/>
              </a:ext>
            </a:extLst>
          </p:cNvPr>
          <p:cNvSpPr txBox="1"/>
          <p:nvPr/>
        </p:nvSpPr>
        <p:spPr>
          <a:xfrm>
            <a:off x="3164757" y="128220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Évaluation, tâche notée, peur de l’échec</a:t>
            </a:r>
            <a:endParaRPr lang="fr-FR" sz="1000" dirty="0"/>
          </a:p>
        </p:txBody>
      </p:sp>
      <p:pic>
        <p:nvPicPr>
          <p:cNvPr id="9" name="Image 8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B367623F-A2BA-A603-1BEE-58F73AD6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68" y="67618"/>
            <a:ext cx="1861617" cy="282928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DB7CBAE-D01D-43F8-9567-3D130C73807F}"/>
              </a:ext>
            </a:extLst>
          </p:cNvPr>
          <p:cNvSpPr txBox="1"/>
          <p:nvPr/>
        </p:nvSpPr>
        <p:spPr>
          <a:xfrm>
            <a:off x="5497860" y="128220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Retour après une absence ou des vacances</a:t>
            </a:r>
            <a:endParaRPr lang="fr-FR" sz="1000" dirty="0"/>
          </a:p>
        </p:txBody>
      </p:sp>
      <p:pic>
        <p:nvPicPr>
          <p:cNvPr id="11" name="Image 10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A88F5C12-B612-4071-354C-DE54CD5F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171" y="67617"/>
            <a:ext cx="1861617" cy="282928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941B53E-FD8C-DA31-3B27-E334C2D25052}"/>
              </a:ext>
            </a:extLst>
          </p:cNvPr>
          <p:cNvSpPr txBox="1"/>
          <p:nvPr/>
        </p:nvSpPr>
        <p:spPr>
          <a:xfrm>
            <a:off x="7723388" y="1282206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Après un conflit ou une moquerie avec les pairs. </a:t>
            </a:r>
            <a:endParaRPr lang="fr-FR" sz="1000" dirty="0"/>
          </a:p>
        </p:txBody>
      </p:sp>
      <p:pic>
        <p:nvPicPr>
          <p:cNvPr id="13" name="Image 12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483B3DFA-942F-B55D-D538-3D0EAFFFB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274" y="67617"/>
            <a:ext cx="1861617" cy="282928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1C966DB-0E9F-6386-ADBC-5BCFDB45E148}"/>
              </a:ext>
            </a:extLst>
          </p:cNvPr>
          <p:cNvSpPr txBox="1"/>
          <p:nvPr/>
        </p:nvSpPr>
        <p:spPr>
          <a:xfrm>
            <a:off x="10056490" y="1282206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Difficulté scolaire soudaine ou pression de performance</a:t>
            </a:r>
            <a:endParaRPr lang="fr-FR" sz="1000" dirty="0"/>
          </a:p>
        </p:txBody>
      </p:sp>
      <p:pic>
        <p:nvPicPr>
          <p:cNvPr id="15" name="Image 14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737C6D07-0068-C54C-1E01-0AA95F405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55" y="3504203"/>
            <a:ext cx="1861617" cy="282928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BFF1EB8-BAAF-8EB2-9D7D-A25BFBB8AAA9}"/>
              </a:ext>
            </a:extLst>
          </p:cNvPr>
          <p:cNvSpPr txBox="1"/>
          <p:nvPr/>
        </p:nvSpPr>
        <p:spPr>
          <a:xfrm>
            <a:off x="866248" y="4718792"/>
            <a:ext cx="1204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Pendant une consigne nouvelle ou floue</a:t>
            </a:r>
            <a:endParaRPr lang="fr-FR" sz="1000" dirty="0"/>
          </a:p>
        </p:txBody>
      </p:sp>
      <p:pic>
        <p:nvPicPr>
          <p:cNvPr id="17" name="Image 16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7CD83D0E-04B9-763D-2554-DE157FF1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016" y="3504203"/>
            <a:ext cx="1861617" cy="282928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B56AF42-AB97-25FB-F282-1CFF70C702C2}"/>
              </a:ext>
            </a:extLst>
          </p:cNvPr>
          <p:cNvSpPr txBox="1"/>
          <p:nvPr/>
        </p:nvSpPr>
        <p:spPr>
          <a:xfrm>
            <a:off x="3114809" y="4718792"/>
            <a:ext cx="12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Après une erreur devant les autres</a:t>
            </a:r>
            <a:endParaRPr lang="fr-FR" sz="1000" dirty="0"/>
          </a:p>
        </p:txBody>
      </p:sp>
      <p:pic>
        <p:nvPicPr>
          <p:cNvPr id="19" name="Image 18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37C03FE3-B996-B493-272A-04CBD4D49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119" y="3504203"/>
            <a:ext cx="1861617" cy="2829289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DB9448AE-9CBB-9007-16EE-C5911F8DA2A9}"/>
              </a:ext>
            </a:extLst>
          </p:cNvPr>
          <p:cNvSpPr txBox="1"/>
          <p:nvPr/>
        </p:nvSpPr>
        <p:spPr>
          <a:xfrm>
            <a:off x="5447911" y="471879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Quand le bruit de la classe augmente</a:t>
            </a:r>
            <a:endParaRPr lang="fr-FR" sz="1000" dirty="0"/>
          </a:p>
        </p:txBody>
      </p:sp>
      <p:pic>
        <p:nvPicPr>
          <p:cNvPr id="21" name="Image 20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265ED918-6981-DA30-ED67-F47504C07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22" y="3504202"/>
            <a:ext cx="1861617" cy="2829289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0A05DD05-8951-F971-C222-87649B09B439}"/>
              </a:ext>
            </a:extLst>
          </p:cNvPr>
          <p:cNvSpPr txBox="1"/>
          <p:nvPr/>
        </p:nvSpPr>
        <p:spPr>
          <a:xfrm>
            <a:off x="7781015" y="4718791"/>
            <a:ext cx="1215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Dans une transition d’activité </a:t>
            </a:r>
            <a:endParaRPr lang="fr-FR" sz="1000" dirty="0"/>
          </a:p>
        </p:txBody>
      </p:sp>
      <p:pic>
        <p:nvPicPr>
          <p:cNvPr id="23" name="Image 22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800E8E16-72ED-2805-4312-32537D3F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325" y="3504202"/>
            <a:ext cx="1861617" cy="2829289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46DFFE9-4359-1666-0218-51DC5476B81A}"/>
              </a:ext>
            </a:extLst>
          </p:cNvPr>
          <p:cNvSpPr txBox="1"/>
          <p:nvPr/>
        </p:nvSpPr>
        <p:spPr>
          <a:xfrm>
            <a:off x="10114117" y="4718791"/>
            <a:ext cx="12116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Quand la tâche demande rapidité ou performance</a:t>
            </a:r>
            <a:endParaRPr lang="fr-FR" sz="10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38700E2-51E3-D1D1-90DD-09FDC51ED45C}"/>
              </a:ext>
            </a:extLst>
          </p:cNvPr>
          <p:cNvSpPr txBox="1"/>
          <p:nvPr/>
        </p:nvSpPr>
        <p:spPr>
          <a:xfrm>
            <a:off x="1912176" y="32285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6A43A6F-D27F-BF6D-2229-F224853F546B}"/>
              </a:ext>
            </a:extLst>
          </p:cNvPr>
          <p:cNvSpPr txBox="1"/>
          <p:nvPr/>
        </p:nvSpPr>
        <p:spPr>
          <a:xfrm>
            <a:off x="4143534" y="30760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333B91F-5CEB-05A3-EE6C-DE9D614CDFDD}"/>
              </a:ext>
            </a:extLst>
          </p:cNvPr>
          <p:cNvSpPr txBox="1"/>
          <p:nvPr/>
        </p:nvSpPr>
        <p:spPr>
          <a:xfrm>
            <a:off x="6448378" y="30760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94D2B96-E45B-4AFD-4A0E-320928995BF0}"/>
              </a:ext>
            </a:extLst>
          </p:cNvPr>
          <p:cNvSpPr txBox="1"/>
          <p:nvPr/>
        </p:nvSpPr>
        <p:spPr>
          <a:xfrm>
            <a:off x="1861540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921356F-1014-7BF6-8D2E-58947FC33FFD}"/>
              </a:ext>
            </a:extLst>
          </p:cNvPr>
          <p:cNvSpPr txBox="1"/>
          <p:nvPr/>
        </p:nvSpPr>
        <p:spPr>
          <a:xfrm>
            <a:off x="4081668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7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E4BC523-179F-DE3C-2CC0-DE93FD4FB1AB}"/>
              </a:ext>
            </a:extLst>
          </p:cNvPr>
          <p:cNvSpPr txBox="1"/>
          <p:nvPr/>
        </p:nvSpPr>
        <p:spPr>
          <a:xfrm>
            <a:off x="6419772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7753C6F-E4BB-7F12-1764-F3577F301C1A}"/>
              </a:ext>
            </a:extLst>
          </p:cNvPr>
          <p:cNvSpPr txBox="1"/>
          <p:nvPr/>
        </p:nvSpPr>
        <p:spPr>
          <a:xfrm>
            <a:off x="8816926" y="32285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E2B61A2-B210-3483-3DB7-5FEA5E5278B5}"/>
              </a:ext>
            </a:extLst>
          </p:cNvPr>
          <p:cNvSpPr txBox="1"/>
          <p:nvPr/>
        </p:nvSpPr>
        <p:spPr>
          <a:xfrm>
            <a:off x="8754158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9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AF5BE6F-489B-9570-1ED7-BB2518F56945}"/>
              </a:ext>
            </a:extLst>
          </p:cNvPr>
          <p:cNvSpPr txBox="1"/>
          <p:nvPr/>
        </p:nvSpPr>
        <p:spPr>
          <a:xfrm>
            <a:off x="11135837" y="30760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D5C58BE-07DA-2131-D1C2-4B727C898A70}"/>
              </a:ext>
            </a:extLst>
          </p:cNvPr>
          <p:cNvSpPr txBox="1"/>
          <p:nvPr/>
        </p:nvSpPr>
        <p:spPr>
          <a:xfrm>
            <a:off x="11053204" y="3746340"/>
            <a:ext cx="335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10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09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7CE819C-55C0-304E-B918-7B50304A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10" y="316459"/>
            <a:ext cx="1861618" cy="2801553"/>
          </a:xfrm>
          <a:prstGeom prst="rect">
            <a:avLst/>
          </a:prstGeom>
        </p:spPr>
      </p:pic>
      <p:pic>
        <p:nvPicPr>
          <p:cNvPr id="15" name="Graphique 14" descr="Gribouille contour">
            <a:extLst>
              <a:ext uri="{FF2B5EF4-FFF2-40B4-BE49-F238E27FC236}">
                <a16:creationId xmlns:a16="http://schemas.microsoft.com/office/drawing/2014/main" id="{5101FE93-EA5C-0EB2-F725-D45E1536D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4095" y="2558560"/>
            <a:ext cx="263987" cy="263987"/>
          </a:xfrm>
          <a:prstGeom prst="rect">
            <a:avLst/>
          </a:prstGeom>
        </p:spPr>
      </p:pic>
      <p:pic>
        <p:nvPicPr>
          <p:cNvPr id="34" name="Image 33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C920ABA3-15C1-00C9-AABA-65352980B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679" y="302592"/>
            <a:ext cx="1861617" cy="2829289"/>
          </a:xfrm>
          <a:prstGeom prst="rect">
            <a:avLst/>
          </a:prstGeom>
        </p:spPr>
      </p:pic>
      <p:pic>
        <p:nvPicPr>
          <p:cNvPr id="35" name="Image 3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27947D1-B8A9-E099-C9CE-43B764621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241" y="302592"/>
            <a:ext cx="1861618" cy="2801553"/>
          </a:xfrm>
          <a:prstGeom prst="rect">
            <a:avLst/>
          </a:prstGeom>
        </p:spPr>
      </p:pic>
      <p:pic>
        <p:nvPicPr>
          <p:cNvPr id="36" name="Graphique 35" descr="Gribouille contour">
            <a:extLst>
              <a:ext uri="{FF2B5EF4-FFF2-40B4-BE49-F238E27FC236}">
                <a16:creationId xmlns:a16="http://schemas.microsoft.com/office/drawing/2014/main" id="{AC577648-BE4A-95C6-2918-55F300E90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5132" y="2546491"/>
            <a:ext cx="319346" cy="319346"/>
          </a:xfrm>
          <a:prstGeom prst="rect">
            <a:avLst/>
          </a:prstGeom>
        </p:spPr>
      </p:pic>
      <p:pic>
        <p:nvPicPr>
          <p:cNvPr id="38" name="Graphique 37" descr="Gribouille contour">
            <a:extLst>
              <a:ext uri="{FF2B5EF4-FFF2-40B4-BE49-F238E27FC236}">
                <a16:creationId xmlns:a16="http://schemas.microsoft.com/office/drawing/2014/main" id="{E742ED69-E185-1C1F-D2FD-3F23D4983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6829292" y="2558560"/>
            <a:ext cx="295208" cy="295208"/>
          </a:xfrm>
          <a:prstGeom prst="rect">
            <a:avLst/>
          </a:prstGeom>
        </p:spPr>
      </p:pic>
      <p:pic>
        <p:nvPicPr>
          <p:cNvPr id="48" name="Image 4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442E3F3-3564-C08F-2848-29D747B1DD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45" y="3661298"/>
            <a:ext cx="1866900" cy="2806700"/>
          </a:xfrm>
          <a:prstGeom prst="rect">
            <a:avLst/>
          </a:prstGeom>
        </p:spPr>
      </p:pic>
      <p:pic>
        <p:nvPicPr>
          <p:cNvPr id="49" name="Image 4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63427242-957E-6353-AF60-917A3B785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445" y="3664089"/>
            <a:ext cx="1866900" cy="2806700"/>
          </a:xfrm>
          <a:prstGeom prst="rect">
            <a:avLst/>
          </a:prstGeom>
        </p:spPr>
      </p:pic>
      <p:pic>
        <p:nvPicPr>
          <p:cNvPr id="50" name="Image 4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7A80599A-D2AE-5802-A14B-891C84850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245" y="3661298"/>
            <a:ext cx="1866900" cy="2806700"/>
          </a:xfrm>
          <a:prstGeom prst="rect">
            <a:avLst/>
          </a:prstGeom>
        </p:spPr>
      </p:pic>
      <p:pic>
        <p:nvPicPr>
          <p:cNvPr id="51" name="Image 50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3E37A2F-EE1C-556B-F04F-2F6F1E7D6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241" y="3661298"/>
            <a:ext cx="1866900" cy="2806700"/>
          </a:xfrm>
          <a:prstGeom prst="rect">
            <a:avLst/>
          </a:prstGeom>
        </p:spPr>
      </p:pic>
      <p:pic>
        <p:nvPicPr>
          <p:cNvPr id="52" name="Image 5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E2489B8-6DC1-4328-636D-E11E9AD6B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9845" y="3661298"/>
            <a:ext cx="18669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622354B-838D-D31C-F622-301C85FD7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56" y="3788229"/>
            <a:ext cx="1866900" cy="2806700"/>
          </a:xfrm>
          <a:prstGeom prst="rect">
            <a:avLst/>
          </a:prstGeom>
        </p:spPr>
      </p:pic>
      <p:pic>
        <p:nvPicPr>
          <p:cNvPr id="7" name="Image 6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80E3835-664C-74C8-D11E-173130877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985" y="3788229"/>
            <a:ext cx="1866900" cy="2806700"/>
          </a:xfrm>
          <a:prstGeom prst="rect">
            <a:avLst/>
          </a:prstGeom>
        </p:spPr>
      </p:pic>
      <p:pic>
        <p:nvPicPr>
          <p:cNvPr id="8" name="Image 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C2BE722-7DEB-025B-B8E1-423F633F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14" y="3788229"/>
            <a:ext cx="1866900" cy="2806700"/>
          </a:xfrm>
          <a:prstGeom prst="rect">
            <a:avLst/>
          </a:prstGeom>
        </p:spPr>
      </p:pic>
      <p:pic>
        <p:nvPicPr>
          <p:cNvPr id="9" name="Image 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B6C849B-C6F9-148D-52B5-672A5F215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43" y="3788229"/>
            <a:ext cx="1866900" cy="2806700"/>
          </a:xfrm>
          <a:prstGeom prst="rect">
            <a:avLst/>
          </a:prstGeom>
        </p:spPr>
      </p:pic>
      <p:pic>
        <p:nvPicPr>
          <p:cNvPr id="10" name="Image 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47F12E3-3A2D-6143-8757-56413D1F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356" y="3788229"/>
            <a:ext cx="1866900" cy="2806700"/>
          </a:xfrm>
          <a:prstGeom prst="rect">
            <a:avLst/>
          </a:prstGeom>
        </p:spPr>
      </p:pic>
      <p:pic>
        <p:nvPicPr>
          <p:cNvPr id="11" name="Image 10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7E638311-2569-2043-DAB6-AAD96A29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6" y="478064"/>
            <a:ext cx="1866900" cy="2832100"/>
          </a:xfrm>
          <a:prstGeom prst="rect">
            <a:avLst/>
          </a:prstGeom>
        </p:spPr>
      </p:pic>
      <p:pic>
        <p:nvPicPr>
          <p:cNvPr id="12" name="Image 11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00E63EC0-0AA3-B174-09AA-03937C43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19" y="473528"/>
            <a:ext cx="1866900" cy="2832100"/>
          </a:xfrm>
          <a:prstGeom prst="rect">
            <a:avLst/>
          </a:prstGeom>
        </p:spPr>
      </p:pic>
      <p:pic>
        <p:nvPicPr>
          <p:cNvPr id="13" name="Image 12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8B4EC6CD-3A3C-9D8F-5467-5F43ED9B8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291" y="473528"/>
            <a:ext cx="1866900" cy="2832100"/>
          </a:xfrm>
          <a:prstGeom prst="rect">
            <a:avLst/>
          </a:prstGeom>
        </p:spPr>
      </p:pic>
      <p:pic>
        <p:nvPicPr>
          <p:cNvPr id="14" name="Image 13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A356C9A0-535B-D2F5-ADF5-8189C0638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85" y="473528"/>
            <a:ext cx="1866900" cy="2832100"/>
          </a:xfrm>
          <a:prstGeom prst="rect">
            <a:avLst/>
          </a:prstGeom>
        </p:spPr>
      </p:pic>
      <p:pic>
        <p:nvPicPr>
          <p:cNvPr id="15" name="Image 14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C9C81EBC-F8E4-031E-A1E8-6013F326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356" y="418192"/>
            <a:ext cx="18669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5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8E7FEB3D-09DD-8BCF-516F-49A3ED27CC18}"/>
              </a:ext>
            </a:extLst>
          </p:cNvPr>
          <p:cNvSpPr txBox="1"/>
          <p:nvPr/>
        </p:nvSpPr>
        <p:spPr>
          <a:xfrm>
            <a:off x="5659777" y="210282"/>
            <a:ext cx="3817510" cy="71508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FICHE OBSERVATEUR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Relever des faits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C07F08-89A5-5405-5B44-503A2B4E5F71}"/>
              </a:ext>
            </a:extLst>
          </p:cNvPr>
          <p:cNvSpPr txBox="1"/>
          <p:nvPr/>
        </p:nvSpPr>
        <p:spPr>
          <a:xfrm>
            <a:off x="914400" y="974925"/>
            <a:ext cx="2618210" cy="272415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fr-FR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B9049F29-814F-BF6F-F7FC-3F2E02598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223" t="34587" r="12919" b="23035"/>
          <a:stretch>
            <a:fillRect/>
          </a:stretch>
        </p:blipFill>
        <p:spPr>
          <a:xfrm>
            <a:off x="838741" y="1247340"/>
            <a:ext cx="2740705" cy="1740559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F79792EB-CD01-6664-F83A-7F0ADA5D821A}"/>
              </a:ext>
            </a:extLst>
          </p:cNvPr>
          <p:cNvSpPr/>
          <p:nvPr/>
        </p:nvSpPr>
        <p:spPr>
          <a:xfrm>
            <a:off x="735983" y="952847"/>
            <a:ext cx="659757" cy="6366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Graphique 8" descr="Drame contour">
            <a:extLst>
              <a:ext uri="{FF2B5EF4-FFF2-40B4-BE49-F238E27FC236}">
                <a16:creationId xmlns:a16="http://schemas.microsoft.com/office/drawing/2014/main" id="{C2B6D29A-B252-7140-81DF-74171EEE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742" y="1064629"/>
            <a:ext cx="457200" cy="45720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1D4709C3-FE19-0E81-F91C-28F89F62D2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721" t="35775" r="13365" b="22595"/>
          <a:stretch>
            <a:fillRect/>
          </a:stretch>
        </p:blipFill>
        <p:spPr>
          <a:xfrm>
            <a:off x="5026539" y="974925"/>
            <a:ext cx="4717774" cy="5436453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5EAB8B55-6212-6F03-B348-763D366DE871}"/>
              </a:ext>
            </a:extLst>
          </p:cNvPr>
          <p:cNvSpPr/>
          <p:nvPr/>
        </p:nvSpPr>
        <p:spPr>
          <a:xfrm>
            <a:off x="4860208" y="198127"/>
            <a:ext cx="1089759" cy="104220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F434D23-B70B-7E36-D6BE-635C344197AD}"/>
              </a:ext>
            </a:extLst>
          </p:cNvPr>
          <p:cNvSpPr txBox="1"/>
          <p:nvPr/>
        </p:nvSpPr>
        <p:spPr>
          <a:xfrm>
            <a:off x="5155096" y="6411378"/>
            <a:ext cx="4403686" cy="2724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Observer avant d’interpréter – 4 indices maximum, au moins 2 catégories. 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852C431-9FAC-0982-4FEC-8CF5C73E103D}"/>
              </a:ext>
            </a:extLst>
          </p:cNvPr>
          <p:cNvSpPr/>
          <p:nvPr/>
        </p:nvSpPr>
        <p:spPr>
          <a:xfrm>
            <a:off x="5262914" y="1576130"/>
            <a:ext cx="1999096" cy="19514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7E6CD2E-DBE5-B520-9283-2654871A7B74}"/>
              </a:ext>
            </a:extLst>
          </p:cNvPr>
          <p:cNvSpPr/>
          <p:nvPr/>
        </p:nvSpPr>
        <p:spPr>
          <a:xfrm>
            <a:off x="7498385" y="1576130"/>
            <a:ext cx="1978902" cy="19514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6DF3B60-250C-E89D-116C-51351B3D186C}"/>
              </a:ext>
            </a:extLst>
          </p:cNvPr>
          <p:cNvSpPr/>
          <p:nvPr/>
        </p:nvSpPr>
        <p:spPr>
          <a:xfrm>
            <a:off x="5236591" y="4015411"/>
            <a:ext cx="1978902" cy="19514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0E96BEC-7606-1D8C-CF2E-A3ACA6488394}"/>
              </a:ext>
            </a:extLst>
          </p:cNvPr>
          <p:cNvSpPr/>
          <p:nvPr/>
        </p:nvSpPr>
        <p:spPr>
          <a:xfrm>
            <a:off x="7498385" y="4015410"/>
            <a:ext cx="1978902" cy="19514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F2CF3D0-0A77-4956-729C-D88A670ABE32}"/>
              </a:ext>
            </a:extLst>
          </p:cNvPr>
          <p:cNvSpPr/>
          <p:nvPr/>
        </p:nvSpPr>
        <p:spPr>
          <a:xfrm>
            <a:off x="5486400" y="1319584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Indices verbaux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285D96D-FD3F-7297-344A-81D171BBCF92}"/>
              </a:ext>
            </a:extLst>
          </p:cNvPr>
          <p:cNvSpPr/>
          <p:nvPr/>
        </p:nvSpPr>
        <p:spPr>
          <a:xfrm>
            <a:off x="7779836" y="1347421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Indices  non verbaux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5BF101F-2573-6727-C0F1-3341998115F6}"/>
              </a:ext>
            </a:extLst>
          </p:cNvPr>
          <p:cNvSpPr/>
          <p:nvPr/>
        </p:nvSpPr>
        <p:spPr>
          <a:xfrm>
            <a:off x="5486400" y="3742995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Indices contextuels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9ED5234-8BAA-B350-15E3-75DF23725B7D}"/>
              </a:ext>
            </a:extLst>
          </p:cNvPr>
          <p:cNvSpPr/>
          <p:nvPr/>
        </p:nvSpPr>
        <p:spPr>
          <a:xfrm>
            <a:off x="7779836" y="3742995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Justification observable</a:t>
            </a:r>
          </a:p>
        </p:txBody>
      </p:sp>
      <p:pic>
        <p:nvPicPr>
          <p:cNvPr id="28" name="Graphique 27" descr="Œil contour">
            <a:extLst>
              <a:ext uri="{FF2B5EF4-FFF2-40B4-BE49-F238E27FC236}">
                <a16:creationId xmlns:a16="http://schemas.microsoft.com/office/drawing/2014/main" id="{C5294CDF-9C3F-152B-3178-C0B34DA128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1456" y="317972"/>
            <a:ext cx="960872" cy="802511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AB2AF378-3037-79D1-6D6D-87062B7D8F28}"/>
              </a:ext>
            </a:extLst>
          </p:cNvPr>
          <p:cNvSpPr txBox="1"/>
          <p:nvPr/>
        </p:nvSpPr>
        <p:spPr>
          <a:xfrm>
            <a:off x="914400" y="3012412"/>
            <a:ext cx="2665046" cy="44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fr-FR" sz="1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9A6A102-1D36-48FE-D961-9052E1747E9B}"/>
              </a:ext>
            </a:extLst>
          </p:cNvPr>
          <p:cNvSpPr txBox="1"/>
          <p:nvPr/>
        </p:nvSpPr>
        <p:spPr>
          <a:xfrm>
            <a:off x="914399" y="635580"/>
            <a:ext cx="2618210" cy="272415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</a:t>
            </a:r>
            <a:r>
              <a:rPr lang="fr-CH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È</a:t>
            </a:r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 </a:t>
            </a:r>
            <a:r>
              <a:rPr lang="fr-CH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À</a:t>
            </a:r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JOUER </a:t>
            </a:r>
          </a:p>
        </p:txBody>
      </p:sp>
    </p:spTree>
    <p:extLst>
      <p:ext uri="{BB962C8B-B14F-4D97-AF65-F5344CB8AC3E}">
        <p14:creationId xmlns:p14="http://schemas.microsoft.com/office/powerpoint/2010/main" val="259361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texte, capture d’écran, nombre, conception&#10;&#10;Le contenu généré par l’IA peut être incorrect.">
            <a:extLst>
              <a:ext uri="{FF2B5EF4-FFF2-40B4-BE49-F238E27FC236}">
                <a16:creationId xmlns:a16="http://schemas.microsoft.com/office/drawing/2014/main" id="{91830ABA-88AA-3645-E5E6-746C7463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74" y="177800"/>
            <a:ext cx="4889500" cy="6502400"/>
          </a:xfrm>
          <a:prstGeom prst="rect">
            <a:avLst/>
          </a:prstGeom>
        </p:spPr>
      </p:pic>
      <p:pic>
        <p:nvPicPr>
          <p:cNvPr id="16" name="Image 15" descr="Une image contenant texte, capture d’écran, nombre, conception&#10;&#10;Le contenu généré par l’IA peut être incorrect.">
            <a:extLst>
              <a:ext uri="{FF2B5EF4-FFF2-40B4-BE49-F238E27FC236}">
                <a16:creationId xmlns:a16="http://schemas.microsoft.com/office/drawing/2014/main" id="{B26AF4E8-5598-5C31-D044-87978EE6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55" y="177800"/>
            <a:ext cx="48895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01C5D738-6D94-E8AA-952B-D878DFD4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7" y="267277"/>
            <a:ext cx="3578976" cy="354716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C196664-ED8A-8E82-6A82-DBEFDA2CF393}"/>
              </a:ext>
            </a:extLst>
          </p:cNvPr>
          <p:cNvSpPr txBox="1"/>
          <p:nvPr/>
        </p:nvSpPr>
        <p:spPr>
          <a:xfrm>
            <a:off x="1195178" y="714896"/>
            <a:ext cx="2495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Lecture à voix haute imprévue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E19CDA-FEFC-9144-1FF7-B095EDA893BE}"/>
              </a:ext>
            </a:extLst>
          </p:cNvPr>
          <p:cNvSpPr txBox="1"/>
          <p:nvPr/>
        </p:nvSpPr>
        <p:spPr>
          <a:xfrm>
            <a:off x="629671" y="1470292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En français, la classe lit un texte à tour de rôle.</a:t>
            </a:r>
            <a:br>
              <a:rPr lang="fr-CH" sz="1200" dirty="0"/>
            </a:br>
            <a:r>
              <a:rPr lang="fr-CH" sz="1200" dirty="0"/>
              <a:t>L’enseignant demande soudain à un élève de prendre la suite.</a:t>
            </a:r>
            <a:br>
              <a:rPr lang="fr-CH" sz="1200" dirty="0"/>
            </a:br>
            <a:r>
              <a:rPr lang="fr-CH" sz="1200" dirty="0"/>
              <a:t>L’élève regarde son cahier, tarde à commencer et dit qu’il a perdu la ligne.</a:t>
            </a:r>
            <a:br>
              <a:rPr lang="fr-CH" sz="1200" dirty="0"/>
            </a:br>
            <a:r>
              <a:rPr lang="fr-CH" sz="1200" dirty="0"/>
              <a:t>Quelques camarades attendent en silence pendant que le tour reste suspendu.</a:t>
            </a:r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86A2B06-B863-5BFF-B81B-986B0C6A395D}"/>
              </a:ext>
            </a:extLst>
          </p:cNvPr>
          <p:cNvSpPr txBox="1"/>
          <p:nvPr/>
        </p:nvSpPr>
        <p:spPr>
          <a:xfrm>
            <a:off x="1658371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F33471-3836-DCBB-6A6E-AE0936C8FD75}"/>
              </a:ext>
            </a:extLst>
          </p:cNvPr>
          <p:cNvSpPr txBox="1"/>
          <p:nvPr/>
        </p:nvSpPr>
        <p:spPr>
          <a:xfrm>
            <a:off x="629671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16" name="Image 15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615BDDD6-46C5-15FA-37E6-B602EC9B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733" y="259204"/>
            <a:ext cx="3578976" cy="354716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6802028-BBF9-4E23-77EA-85B65588BE44}"/>
              </a:ext>
            </a:extLst>
          </p:cNvPr>
          <p:cNvSpPr txBox="1"/>
          <p:nvPr/>
        </p:nvSpPr>
        <p:spPr>
          <a:xfrm>
            <a:off x="5125266" y="714896"/>
            <a:ext cx="1613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Choix des groupes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31A3B43-9F31-E4E8-A985-223DC876FFB6}"/>
              </a:ext>
            </a:extLst>
          </p:cNvPr>
          <p:cNvSpPr txBox="1"/>
          <p:nvPr/>
        </p:nvSpPr>
        <p:spPr>
          <a:xfrm>
            <a:off x="4272147" y="1462219"/>
            <a:ext cx="331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La classe doit former des groupes de trois pour un travail.</a:t>
            </a:r>
            <a:br>
              <a:rPr lang="fr-CH" sz="1200" dirty="0"/>
            </a:br>
            <a:r>
              <a:rPr lang="fr-CH" sz="1200" dirty="0"/>
              <a:t>Les élèves se déplacent vite et s’installent entre amis.</a:t>
            </a:r>
            <a:br>
              <a:rPr lang="fr-CH" sz="1200" dirty="0"/>
            </a:br>
            <a:r>
              <a:rPr lang="fr-CH" sz="1200" dirty="0"/>
              <a:t>Un élève reste debout avec sa fiche à la main, regarde plusieurs tables puis revient près de sa chaise.</a:t>
            </a:r>
            <a:br>
              <a:rPr lang="fr-CH" sz="1200" dirty="0"/>
            </a:br>
            <a:r>
              <a:rPr lang="fr-CH" sz="1200" dirty="0"/>
              <a:t>L’enseignant rappelle qu’il faut se dépêcher.</a:t>
            </a:r>
            <a:endParaRPr lang="fr-FR" sz="12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4BEDFC-445C-DB9F-5BCD-FC788CD979E3}"/>
              </a:ext>
            </a:extLst>
          </p:cNvPr>
          <p:cNvSpPr txBox="1"/>
          <p:nvPr/>
        </p:nvSpPr>
        <p:spPr>
          <a:xfrm>
            <a:off x="5300847" y="3294833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2 + groupe-classe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FABC640-2051-144E-845C-D6C464899FDD}"/>
              </a:ext>
            </a:extLst>
          </p:cNvPr>
          <p:cNvSpPr txBox="1"/>
          <p:nvPr/>
        </p:nvSpPr>
        <p:spPr>
          <a:xfrm>
            <a:off x="4272147" y="3340999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  <p:pic>
        <p:nvPicPr>
          <p:cNvPr id="21" name="Image 20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E826774E-DC8A-3FB5-259F-38F3A6F8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290" y="267277"/>
            <a:ext cx="3578976" cy="3547163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851D950-3241-4236-21A3-931AD155F0F9}"/>
              </a:ext>
            </a:extLst>
          </p:cNvPr>
          <p:cNvSpPr txBox="1"/>
          <p:nvPr/>
        </p:nvSpPr>
        <p:spPr>
          <a:xfrm>
            <a:off x="8592211" y="714896"/>
            <a:ext cx="2054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Conflit discret en classe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6678066-5325-7A1A-3588-F4347313404E}"/>
              </a:ext>
            </a:extLst>
          </p:cNvPr>
          <p:cNvSpPr txBox="1"/>
          <p:nvPr/>
        </p:nvSpPr>
        <p:spPr>
          <a:xfrm>
            <a:off x="8026704" y="1470292"/>
            <a:ext cx="331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Durant un exercice individuel, deux élèves échangent à voix basse.</a:t>
            </a:r>
            <a:br>
              <a:rPr lang="fr-CH" sz="1200" dirty="0"/>
            </a:br>
            <a:r>
              <a:rPr lang="fr-CH" sz="1200" dirty="0"/>
              <a:t>L’un pousse légèrement la trousse de l’autre et murmure quelque chose.</a:t>
            </a:r>
            <a:br>
              <a:rPr lang="fr-CH" sz="1200" dirty="0"/>
            </a:br>
            <a:r>
              <a:rPr lang="fr-CH" sz="1200" dirty="0"/>
              <a:t>L’autre se retourne plusieurs fois, serre son crayon et cesse d’écrire.</a:t>
            </a:r>
            <a:br>
              <a:rPr lang="fr-CH" sz="1200" dirty="0"/>
            </a:br>
            <a:r>
              <a:rPr lang="fr-CH" sz="1200" dirty="0"/>
              <a:t>L’activité continue pendant que le bruit de fond augmente.</a:t>
            </a:r>
            <a:endParaRPr lang="fr-FR" sz="12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647BDAA-4D5B-C42A-5241-007212DE766E}"/>
              </a:ext>
            </a:extLst>
          </p:cNvPr>
          <p:cNvSpPr txBox="1"/>
          <p:nvPr/>
        </p:nvSpPr>
        <p:spPr>
          <a:xfrm>
            <a:off x="9055404" y="3302906"/>
            <a:ext cx="179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ou groupe-classe</a:t>
            </a:r>
          </a:p>
          <a:p>
            <a:r>
              <a:rPr lang="fr-CH" sz="800" dirty="0"/>
              <a:t>2 élèves sollicités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7E7FED3-58F2-AF7A-9D68-0AAC87FA02D8}"/>
              </a:ext>
            </a:extLst>
          </p:cNvPr>
          <p:cNvSpPr txBox="1"/>
          <p:nvPr/>
        </p:nvSpPr>
        <p:spPr>
          <a:xfrm>
            <a:off x="8026704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97724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7F76F2FB-648C-2194-9CF9-D3E37736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7" y="267277"/>
            <a:ext cx="3578976" cy="3547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156F501-9DE8-E776-3587-070AF0012704}"/>
              </a:ext>
            </a:extLst>
          </p:cNvPr>
          <p:cNvSpPr txBox="1"/>
          <p:nvPr/>
        </p:nvSpPr>
        <p:spPr>
          <a:xfrm>
            <a:off x="1195178" y="714896"/>
            <a:ext cx="1845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Interrogation surprise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E10ECC-4FA4-5FE5-160F-0D6DFB563C2E}"/>
              </a:ext>
            </a:extLst>
          </p:cNvPr>
          <p:cNvSpPr txBox="1"/>
          <p:nvPr/>
        </p:nvSpPr>
        <p:spPr>
          <a:xfrm>
            <a:off x="629671" y="1470292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Au milieu d’une explication, l’enseignant pose une question directe à un élève peu bavard.</a:t>
            </a:r>
            <a:br>
              <a:rPr lang="fr-CH" sz="1200" dirty="0"/>
            </a:br>
            <a:r>
              <a:rPr lang="fr-CH" sz="1200" dirty="0"/>
              <a:t>Plusieurs têtes se tournent vers lui.</a:t>
            </a:r>
            <a:br>
              <a:rPr lang="fr-CH" sz="1200" dirty="0"/>
            </a:br>
            <a:r>
              <a:rPr lang="fr-CH" sz="1200" dirty="0"/>
              <a:t>L’élève se redresse, ouvre la bouche puis dit qu’il ne sait plus.</a:t>
            </a:r>
            <a:br>
              <a:rPr lang="fr-CH" sz="1200" dirty="0"/>
            </a:br>
            <a:r>
              <a:rPr lang="fr-CH" sz="1200" dirty="0"/>
              <a:t>L’enseignant attend quelques secondes avant de reformuler.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E4AED9B-6E5C-944D-43C9-18196741AC06}"/>
              </a:ext>
            </a:extLst>
          </p:cNvPr>
          <p:cNvSpPr txBox="1"/>
          <p:nvPr/>
        </p:nvSpPr>
        <p:spPr>
          <a:xfrm>
            <a:off x="1658371" y="3302906"/>
            <a:ext cx="1971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interrogé</a:t>
            </a:r>
          </a:p>
          <a:p>
            <a:r>
              <a:rPr lang="fr-CH" sz="800" dirty="0"/>
              <a:t>1 + groupe-classe / pair qui se tourne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4D92070-C154-0066-810E-663B2BDEA474}"/>
              </a:ext>
            </a:extLst>
          </p:cNvPr>
          <p:cNvSpPr txBox="1"/>
          <p:nvPr/>
        </p:nvSpPr>
        <p:spPr>
          <a:xfrm>
            <a:off x="629671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A37B13AA-B1F9-6F7F-F66F-0B608231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14" y="267277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B67C626-5CD6-C823-8FCA-B6D52828402D}"/>
              </a:ext>
            </a:extLst>
          </p:cNvPr>
          <p:cNvSpPr txBox="1"/>
          <p:nvPr/>
        </p:nvSpPr>
        <p:spPr>
          <a:xfrm>
            <a:off x="4949735" y="714896"/>
            <a:ext cx="218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Retour de récréation agité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4AF55BC-13FD-FF86-23E2-24A9B1A83642}"/>
              </a:ext>
            </a:extLst>
          </p:cNvPr>
          <p:cNvSpPr txBox="1"/>
          <p:nvPr/>
        </p:nvSpPr>
        <p:spPr>
          <a:xfrm>
            <a:off x="4384228" y="1470292"/>
            <a:ext cx="331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La classe revient de récréation, encore bruyante.</a:t>
            </a:r>
            <a:br>
              <a:rPr lang="fr-CH" sz="1200" dirty="0"/>
            </a:br>
            <a:r>
              <a:rPr lang="fr-CH" sz="1200" dirty="0"/>
              <a:t>Les manteaux ne sont pas tous rangés et plusieurs élèves parlent en même temps.</a:t>
            </a:r>
            <a:br>
              <a:rPr lang="fr-CH" sz="1200" dirty="0"/>
            </a:br>
            <a:r>
              <a:rPr lang="fr-CH" sz="1200" dirty="0"/>
              <a:t>Un élève reste près de la porte, garde son sac sur l’épaule et ne s’installe pas tout de suite.</a:t>
            </a:r>
            <a:br>
              <a:rPr lang="fr-CH" sz="1200" dirty="0"/>
            </a:br>
            <a:r>
              <a:rPr lang="fr-CH" sz="1200" dirty="0"/>
              <a:t>L’enseignant demande à chacun de se mettre rapidement au travail.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266A78-1829-FE88-D031-935252CA884C}"/>
              </a:ext>
            </a:extLst>
          </p:cNvPr>
          <p:cNvSpPr txBox="1"/>
          <p:nvPr/>
        </p:nvSpPr>
        <p:spPr>
          <a:xfrm>
            <a:off x="5412928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2 + groupe-classe / pair qui attend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BAB2118-60AE-2EC6-3057-F23274E37962}"/>
              </a:ext>
            </a:extLst>
          </p:cNvPr>
          <p:cNvSpPr txBox="1"/>
          <p:nvPr/>
        </p:nvSpPr>
        <p:spPr>
          <a:xfrm>
            <a:off x="4384228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  <p:pic>
        <p:nvPicPr>
          <p:cNvPr id="14" name="Image 1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86C320B2-3242-A205-84E7-04EA03AC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90" y="267277"/>
            <a:ext cx="3578976" cy="354716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57AEB9E-7FDC-2AA1-DEB4-C61DB2BDDEA8}"/>
              </a:ext>
            </a:extLst>
          </p:cNvPr>
          <p:cNvSpPr txBox="1"/>
          <p:nvPr/>
        </p:nvSpPr>
        <p:spPr>
          <a:xfrm>
            <a:off x="8579511" y="714896"/>
            <a:ext cx="2212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Retour après une absence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9BB6130-08D6-28B9-FC6B-6A7451757298}"/>
              </a:ext>
            </a:extLst>
          </p:cNvPr>
          <p:cNvSpPr txBox="1"/>
          <p:nvPr/>
        </p:nvSpPr>
        <p:spPr>
          <a:xfrm>
            <a:off x="8014004" y="1470292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Un élève revient en classe après plusieurs jours d’absence.</a:t>
            </a:r>
            <a:br>
              <a:rPr lang="fr-CH" sz="1200" dirty="0"/>
            </a:br>
            <a:r>
              <a:rPr lang="fr-CH" sz="1200" dirty="0"/>
              <a:t>La séance a déjà commencé et les autres ont leur matériel ouvert.</a:t>
            </a:r>
            <a:br>
              <a:rPr lang="fr-CH" sz="1200" dirty="0"/>
            </a:br>
            <a:r>
              <a:rPr lang="fr-CH" sz="1200" dirty="0"/>
              <a:t>L’élève regarde la feuille distribuée, observe les voisins puis demande à mi-voix ce qu’il faut faire.</a:t>
            </a:r>
            <a:br>
              <a:rPr lang="fr-CH" sz="1200" dirty="0"/>
            </a:br>
            <a:r>
              <a:rPr lang="fr-CH" sz="1200" dirty="0"/>
              <a:t>L’enseignant répond tout en poursuivant l’activité avec le groupe.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7C4C17B-F341-CE41-14CA-DA60771E8A91}"/>
              </a:ext>
            </a:extLst>
          </p:cNvPr>
          <p:cNvSpPr txBox="1"/>
          <p:nvPr/>
        </p:nvSpPr>
        <p:spPr>
          <a:xfrm>
            <a:off x="9042704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D30E72F-7160-E877-632C-EC106F490B3D}"/>
              </a:ext>
            </a:extLst>
          </p:cNvPr>
          <p:cNvSpPr txBox="1"/>
          <p:nvPr/>
        </p:nvSpPr>
        <p:spPr>
          <a:xfrm>
            <a:off x="8014004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231374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63BB7CF-5402-9673-7D3F-C7F5E508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7" y="267277"/>
            <a:ext cx="3578976" cy="3547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DCFD6DB-F5B1-AD47-47CF-6DE750474B23}"/>
              </a:ext>
            </a:extLst>
          </p:cNvPr>
          <p:cNvSpPr txBox="1"/>
          <p:nvPr/>
        </p:nvSpPr>
        <p:spPr>
          <a:xfrm>
            <a:off x="1195178" y="714896"/>
            <a:ext cx="2430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Consigne complexe et rapide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EC0A3D-FFC7-5785-21B3-3EB3C854F8F7}"/>
              </a:ext>
            </a:extLst>
          </p:cNvPr>
          <p:cNvSpPr txBox="1"/>
          <p:nvPr/>
        </p:nvSpPr>
        <p:spPr>
          <a:xfrm>
            <a:off x="629671" y="1470292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L’enseignant donne une nouvelle activité avec plusieurs étapes à suivre.</a:t>
            </a:r>
            <a:br>
              <a:rPr lang="fr-CH" sz="1200" dirty="0"/>
            </a:br>
            <a:r>
              <a:rPr lang="fr-CH" sz="1200" dirty="0"/>
              <a:t>Il parle sans écrire la consigne au tableau et distribue le matériel en même temps.</a:t>
            </a:r>
            <a:br>
              <a:rPr lang="fr-CH" sz="1200" dirty="0"/>
            </a:br>
            <a:r>
              <a:rPr lang="fr-CH" sz="1200" dirty="0"/>
              <a:t>Un élève regarde successivement la feuille, les mains de l’enseignant et ses camarades sans commencer.</a:t>
            </a:r>
            <a:br>
              <a:rPr lang="fr-CH" sz="1200" dirty="0"/>
            </a:br>
            <a:r>
              <a:rPr lang="fr-CH" sz="1200" dirty="0"/>
              <a:t>Quand le travail démarre, il demande ce qu’il faut faire en premier.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E3C717-E2CF-86AE-5C71-C13091C62538}"/>
              </a:ext>
            </a:extLst>
          </p:cNvPr>
          <p:cNvSpPr txBox="1"/>
          <p:nvPr/>
        </p:nvSpPr>
        <p:spPr>
          <a:xfrm>
            <a:off x="1658371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1F45E6C-8E61-E890-F4BF-1EBC517AF771}"/>
              </a:ext>
            </a:extLst>
          </p:cNvPr>
          <p:cNvSpPr txBox="1"/>
          <p:nvPr/>
        </p:nvSpPr>
        <p:spPr>
          <a:xfrm>
            <a:off x="629671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09802890-DDD4-AD16-88FC-1F74B383E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14" y="267277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9723217-D8E3-1E8F-E721-24C0DEB38116}"/>
              </a:ext>
            </a:extLst>
          </p:cNvPr>
          <p:cNvSpPr txBox="1"/>
          <p:nvPr/>
        </p:nvSpPr>
        <p:spPr>
          <a:xfrm>
            <a:off x="4949735" y="714896"/>
            <a:ext cx="1980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Bruit de fond important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CC63EF-F085-D38A-FCC5-2CE54EE155F1}"/>
              </a:ext>
            </a:extLst>
          </p:cNvPr>
          <p:cNvSpPr txBox="1"/>
          <p:nvPr/>
        </p:nvSpPr>
        <p:spPr>
          <a:xfrm>
            <a:off x="4384228" y="1470292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La classe travaille en ateliers, avec plusieurs échanges en parallèle.</a:t>
            </a:r>
            <a:br>
              <a:rPr lang="fr-CH" sz="1200" dirty="0"/>
            </a:br>
            <a:r>
              <a:rPr lang="fr-CH" sz="1200" dirty="0"/>
              <a:t>Le niveau sonore monte progressivement.</a:t>
            </a:r>
            <a:br>
              <a:rPr lang="fr-CH" sz="1200" dirty="0"/>
            </a:br>
            <a:r>
              <a:rPr lang="fr-CH" sz="1200" dirty="0"/>
              <a:t>Un élève se retourne souvent, pose ses mains sur ses oreilles quelques secondes puis regarde sa feuille sans écrire.</a:t>
            </a:r>
            <a:br>
              <a:rPr lang="fr-CH" sz="1200" dirty="0"/>
            </a:br>
            <a:r>
              <a:rPr lang="fr-CH" sz="1200" dirty="0"/>
              <a:t>L’enseignant circule d’un groupe à l’autre.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10641EB-1920-9E68-C44B-E741481D3A42}"/>
              </a:ext>
            </a:extLst>
          </p:cNvPr>
          <p:cNvSpPr txBox="1"/>
          <p:nvPr/>
        </p:nvSpPr>
        <p:spPr>
          <a:xfrm>
            <a:off x="5412928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2 + groupe-classe / pairs qui parlent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4DCF678-5602-CDEF-ED30-C6AE00C87E47}"/>
              </a:ext>
            </a:extLst>
          </p:cNvPr>
          <p:cNvSpPr txBox="1"/>
          <p:nvPr/>
        </p:nvSpPr>
        <p:spPr>
          <a:xfrm>
            <a:off x="4384228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  <p:pic>
        <p:nvPicPr>
          <p:cNvPr id="14" name="Image 1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3DE2463-FE58-AA91-09EE-6CC2376E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204" y="267277"/>
            <a:ext cx="3578976" cy="354716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1FA892BA-A565-D0F9-5B92-3793368FFBF8}"/>
              </a:ext>
            </a:extLst>
          </p:cNvPr>
          <p:cNvSpPr txBox="1"/>
          <p:nvPr/>
        </p:nvSpPr>
        <p:spPr>
          <a:xfrm>
            <a:off x="8797125" y="714896"/>
            <a:ext cx="1701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Temps limité visible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F5B1DC-83AC-88D6-7250-55D3F449FCAA}"/>
              </a:ext>
            </a:extLst>
          </p:cNvPr>
          <p:cNvSpPr txBox="1"/>
          <p:nvPr/>
        </p:nvSpPr>
        <p:spPr>
          <a:xfrm>
            <a:off x="8231618" y="1470292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Pour l’exercice, un minuteur est projeté au tableau.</a:t>
            </a:r>
            <a:br>
              <a:rPr lang="fr-CH" sz="1200" dirty="0"/>
            </a:br>
            <a:r>
              <a:rPr lang="fr-CH" sz="1200" dirty="0"/>
              <a:t>Les élèves voient les secondes défiler pendant qu’ils travaillent.</a:t>
            </a:r>
            <a:br>
              <a:rPr lang="fr-CH" sz="1200" dirty="0"/>
            </a:br>
            <a:r>
              <a:rPr lang="fr-CH" sz="1200" dirty="0"/>
              <a:t>Un élève regarde souvent l’écran, tourne sa gomme entre ses doigts et demande s’il faut vraiment finir avant la sonnerie.</a:t>
            </a:r>
            <a:br>
              <a:rPr lang="fr-CH" sz="1200" dirty="0"/>
            </a:br>
            <a:r>
              <a:rPr lang="fr-CH" sz="1200" dirty="0"/>
              <a:t>Autour de lui, plusieurs élèves accélèrent le rythme.</a:t>
            </a: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D8F3C63-49B9-7DFE-1B67-B0D9305E517F}"/>
              </a:ext>
            </a:extLst>
          </p:cNvPr>
          <p:cNvSpPr txBox="1"/>
          <p:nvPr/>
        </p:nvSpPr>
        <p:spPr>
          <a:xfrm>
            <a:off x="9260318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accélère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1B4C93C-0E7C-D67D-98A2-7C6EC155F177}"/>
              </a:ext>
            </a:extLst>
          </p:cNvPr>
          <p:cNvSpPr txBox="1"/>
          <p:nvPr/>
        </p:nvSpPr>
        <p:spPr>
          <a:xfrm>
            <a:off x="8231618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301370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F9AE1033-8464-9833-01A6-EDB008C1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7" y="267277"/>
            <a:ext cx="3578976" cy="3547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C89F3D3-0C33-7E04-8C04-03AEC7E9788D}"/>
              </a:ext>
            </a:extLst>
          </p:cNvPr>
          <p:cNvSpPr txBox="1"/>
          <p:nvPr/>
        </p:nvSpPr>
        <p:spPr>
          <a:xfrm>
            <a:off x="1195178" y="714896"/>
            <a:ext cx="2055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Moquerie à peine visible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F4544B-3845-4040-4129-B701D75B93BD}"/>
              </a:ext>
            </a:extLst>
          </p:cNvPr>
          <p:cNvSpPr txBox="1"/>
          <p:nvPr/>
        </p:nvSpPr>
        <p:spPr>
          <a:xfrm>
            <a:off x="629671" y="1470292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Pendant un travail écrit, un élève lève la main pour poser une question.</a:t>
            </a:r>
            <a:br>
              <a:rPr lang="fr-CH" sz="1200" dirty="0"/>
            </a:br>
            <a:r>
              <a:rPr lang="fr-CH" sz="1200" dirty="0"/>
              <a:t>Un camarade à côté souffle quelques mots et ricane discrètement.</a:t>
            </a:r>
            <a:br>
              <a:rPr lang="fr-CH" sz="1200" dirty="0"/>
            </a:br>
            <a:r>
              <a:rPr lang="fr-CH" sz="1200" dirty="0"/>
              <a:t>L’élève baisse la main, se tourne vers sa feuille et n’appelle plus l’enseignant.</a:t>
            </a:r>
            <a:br>
              <a:rPr lang="fr-CH" sz="1200" dirty="0"/>
            </a:br>
            <a:r>
              <a:rPr lang="fr-CH" sz="1200" dirty="0"/>
              <a:t>Le reste de la classe continue à travailler.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0514CB8-4861-0B64-A30E-F83D802CFDD9}"/>
              </a:ext>
            </a:extLst>
          </p:cNvPr>
          <p:cNvSpPr txBox="1"/>
          <p:nvPr/>
        </p:nvSpPr>
        <p:spPr>
          <a:xfrm>
            <a:off x="1658371" y="3302906"/>
            <a:ext cx="1988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se moque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C756A6A-A10A-B999-60AF-0BAA30F991BA}"/>
              </a:ext>
            </a:extLst>
          </p:cNvPr>
          <p:cNvSpPr txBox="1"/>
          <p:nvPr/>
        </p:nvSpPr>
        <p:spPr>
          <a:xfrm>
            <a:off x="629671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7D926855-0BDB-C99B-441E-8C6AB602D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512" y="267277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160A907-D1B2-A525-E27E-B2D54CD35C09}"/>
              </a:ext>
            </a:extLst>
          </p:cNvPr>
          <p:cNvSpPr txBox="1"/>
          <p:nvPr/>
        </p:nvSpPr>
        <p:spPr>
          <a:xfrm>
            <a:off x="5101981" y="726581"/>
            <a:ext cx="2754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Objet oublié / matériel manquant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139C34-3736-F3B1-C3C3-EB5F4BE28B65}"/>
              </a:ext>
            </a:extLst>
          </p:cNvPr>
          <p:cNvSpPr txBox="1"/>
          <p:nvPr/>
        </p:nvSpPr>
        <p:spPr>
          <a:xfrm>
            <a:off x="4574926" y="1470292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Au début d’une activité, les élèves doivent sortir une règle et un feutre.</a:t>
            </a:r>
            <a:br>
              <a:rPr lang="fr-CH" sz="1200" dirty="0"/>
            </a:br>
            <a:r>
              <a:rPr lang="fr-CH" sz="1200" dirty="0"/>
              <a:t>Un élève vide sa trousse puis regarde dans son sac.</a:t>
            </a:r>
            <a:br>
              <a:rPr lang="fr-CH" sz="1200" dirty="0"/>
            </a:br>
            <a:r>
              <a:rPr lang="fr-CH" sz="1200" dirty="0"/>
              <a:t>Il demande doucement s’il peut faire sans et laisse sa feuille de côté pendant que les autres commencent.</a:t>
            </a:r>
            <a:br>
              <a:rPr lang="fr-CH" sz="1200" dirty="0"/>
            </a:br>
            <a:r>
              <a:rPr lang="fr-CH" sz="1200" dirty="0"/>
              <a:t>L’enseignant circule pour vérifier la mise en route.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6D8D43-E72E-36D7-C1DB-F5700CD4ABD4}"/>
              </a:ext>
            </a:extLst>
          </p:cNvPr>
          <p:cNvSpPr txBox="1"/>
          <p:nvPr/>
        </p:nvSpPr>
        <p:spPr>
          <a:xfrm>
            <a:off x="5603626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93978A-4F41-61B6-83DD-8ED375E72656}"/>
              </a:ext>
            </a:extLst>
          </p:cNvPr>
          <p:cNvSpPr txBox="1"/>
          <p:nvPr/>
        </p:nvSpPr>
        <p:spPr>
          <a:xfrm>
            <a:off x="4574926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14" name="Image 1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96A42929-3ADA-42F4-60E0-63D4231C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927" y="267277"/>
            <a:ext cx="3578976" cy="354716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6543404-2F4C-8C80-5688-CFE1F1537069}"/>
              </a:ext>
            </a:extLst>
          </p:cNvPr>
          <p:cNvSpPr txBox="1"/>
          <p:nvPr/>
        </p:nvSpPr>
        <p:spPr>
          <a:xfrm>
            <a:off x="9107848" y="714896"/>
            <a:ext cx="2235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Ressenti après un incident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7420D21-D410-347F-A71A-8CCF363027D1}"/>
              </a:ext>
            </a:extLst>
          </p:cNvPr>
          <p:cNvSpPr txBox="1"/>
          <p:nvPr/>
        </p:nvSpPr>
        <p:spPr>
          <a:xfrm>
            <a:off x="8542341" y="1470292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Après un échange tendu entre deux élèves, l’enseignant demande à l’un d’eux d’expliquer ce qu’il ressent.</a:t>
            </a:r>
            <a:br>
              <a:rPr lang="fr-CH" sz="1200" dirty="0"/>
            </a:br>
            <a:r>
              <a:rPr lang="fr-CH" sz="1200" dirty="0"/>
              <a:t>La classe est silencieuse et plusieurs regards se tournent vers lui.</a:t>
            </a:r>
            <a:br>
              <a:rPr lang="fr-CH" sz="1200" dirty="0"/>
            </a:br>
            <a:r>
              <a:rPr lang="fr-CH" sz="1200" dirty="0"/>
              <a:t>L’élève hausse les épaules, répond très brièvement puis se tait.</a:t>
            </a:r>
            <a:br>
              <a:rPr lang="fr-CH" sz="1200" dirty="0"/>
            </a:br>
            <a:r>
              <a:rPr lang="fr-CH" sz="1200" dirty="0"/>
              <a:t>L’enseignant attend avant de reprendre la parole.</a:t>
            </a: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3DC934D-8E47-A3CE-AB03-9C9D34911D37}"/>
              </a:ext>
            </a:extLst>
          </p:cNvPr>
          <p:cNvSpPr txBox="1"/>
          <p:nvPr/>
        </p:nvSpPr>
        <p:spPr>
          <a:xfrm>
            <a:off x="9571041" y="3302906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2 élèves impliqués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5D79BC-155F-674D-9690-B3AB5900C6D5}"/>
              </a:ext>
            </a:extLst>
          </p:cNvPr>
          <p:cNvSpPr txBox="1"/>
          <p:nvPr/>
        </p:nvSpPr>
        <p:spPr>
          <a:xfrm>
            <a:off x="8542341" y="33490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7695952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1276</Words>
  <Application>Microsoft Macintosh PowerPoint</Application>
  <PresentationFormat>Grand écran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Avogadro</dc:creator>
  <cp:lastModifiedBy>Audrey Avogadro</cp:lastModifiedBy>
  <cp:revision>4</cp:revision>
  <dcterms:created xsi:type="dcterms:W3CDTF">2026-04-08T12:34:36Z</dcterms:created>
  <dcterms:modified xsi:type="dcterms:W3CDTF">2026-04-09T06:37:42Z</dcterms:modified>
</cp:coreProperties>
</file>