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774493-AEF3-9CAE-FCF5-408F6974C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D4388A6-4BF4-A94B-C791-80B6AA85FB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5B51EE-D212-1C0B-49C2-AE8089D16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39CCD-2E7E-C846-9483-CA4E88C51881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5C282CF-434E-1CEB-C157-47A0318EE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71F7CA-2DEA-098D-17D7-B16FC5EFF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5DD0-7DD5-BD4F-ACF7-47D3DA6A33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3924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7F6D26-8BF2-EC11-F668-B4994D9AC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3091D4-883E-3DDE-EAFF-32E517900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5E39F1-6862-F2CD-F053-086CE9F2C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39CCD-2E7E-C846-9483-CA4E88C51881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926DE9D-E208-5621-CF81-C77F24C31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A5A85D8-8A15-1E54-1F73-AA8E6EDD2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5DD0-7DD5-BD4F-ACF7-47D3DA6A33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792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89FDFA-460C-38C6-2E07-3D6C68F07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A6404E9-BC17-ACD6-1407-28AD1AFAB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9D200F-53A3-35CF-2C02-2CC243606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39CCD-2E7E-C846-9483-CA4E88C51881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611574-3CB4-3366-015A-998D993B8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8E2F06-092F-DEC8-74EB-D590A143F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5DD0-7DD5-BD4F-ACF7-47D3DA6A33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836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74CCC2-73EC-0B99-1911-0E8127C01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EC4479-E0D8-1419-7825-BD8295FC69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9FA2118-6644-C4FB-5079-AE21F7A57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148C443-CB35-EC22-CAF3-8651E137D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39CCD-2E7E-C846-9483-CA4E88C51881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D9D9857-879B-5786-8C00-64855BDE2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178E672-E2AA-B632-6BB6-F82165BBC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5DD0-7DD5-BD4F-ACF7-47D3DA6A33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1321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4EBC33-1757-4DF3-AF7F-73E9E2A66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6276C00-3868-1795-411A-91C8A5E48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289E36-AE77-80EB-5890-CD57BAE988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D86F03C-E4AC-A49E-FE4F-117718DDBC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2AC093E-323B-9CD2-B48C-AB2F7E7BA1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89C2BA5-282B-0150-0BF9-B97FCA973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39CCD-2E7E-C846-9483-CA4E88C51881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7176442-580F-21FA-C33D-33EAB078F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9E6E28D-C63B-EA8F-070A-8A59256D3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5DD0-7DD5-BD4F-ACF7-47D3DA6A33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160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AB24E5-BD2E-2319-C053-8FB19153A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2D628FE-AD36-40E5-F278-6A9EBDA54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39CCD-2E7E-C846-9483-CA4E88C51881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327C839-FA51-28C1-725D-EE7D2F197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80A2EE8-913B-BACF-CA9E-BCB36A774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5DD0-7DD5-BD4F-ACF7-47D3DA6A33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1120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1B42F20-A5AE-BDE7-E66D-F997AB22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39CCD-2E7E-C846-9483-CA4E88C51881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1A97F61-5246-D754-70B8-A425F6425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8F7CED-EA32-1062-B9AA-443858088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5DD0-7DD5-BD4F-ACF7-47D3DA6A33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2048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CFCC6F-92CE-78DC-855E-A698A3749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705DE6-1D76-589C-0FAC-5A54FC538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4AA71AF-EEA5-C74C-89E5-038896F66B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9A141DB-ED1D-5B5D-7F8F-1D2260588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39CCD-2E7E-C846-9483-CA4E88C51881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D3370E-CDB9-262A-2395-9D8EE44DB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92D4181-E6A4-2286-13D2-5AFAACCDB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5DD0-7DD5-BD4F-ACF7-47D3DA6A33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592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60685F-B174-0702-823B-26DEA61A6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6E4C551-F07D-E150-69BB-7EA932B5EE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ED7EC96-F7E5-F33D-11C2-5079650252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BB2AB9-467E-236F-DA28-409C60975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39CCD-2E7E-C846-9483-CA4E88C51881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DA193BA-FAE0-D18E-B7AA-6175615FF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EDB7F29-B5F0-30E0-A435-A6ED6F225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5DD0-7DD5-BD4F-ACF7-47D3DA6A33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2621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0F3A9A-156C-958D-86CD-54056CCD2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655C04A-47B4-4FF3-7275-88ABA2AF2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508DDD-105B-01F9-2EB3-507B5CE22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39CCD-2E7E-C846-9483-CA4E88C51881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A6F089-2753-1AB9-3FE5-BEFC8E114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5974B32-2C35-CE42-907B-A6C46AC23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5DD0-7DD5-BD4F-ACF7-47D3DA6A33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9682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413EC57-1D37-60EA-EA7F-FCF8F24FC1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172702D-8313-532B-4A2E-9E800DF458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7CB7F1-13E0-B1AC-2703-D3B46557D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39CCD-2E7E-C846-9483-CA4E88C51881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5AE9D6-C608-9E71-F23C-8C9245573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F71302-0C19-2E1C-F211-5670F802B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5DD0-7DD5-BD4F-ACF7-47D3DA6A33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9937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B9004E7-EAA7-2B24-95B3-1CA14CA7E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AFBA5B2-00D7-973F-A608-8F71E768B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8FFA99-6E17-B2CD-87AD-5295D1813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239CCD-2E7E-C846-9483-CA4E88C51881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C66B39B-74FB-BF9E-8325-ECE925477D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386657-4BDF-2E42-5849-9DD73E6DA5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2D5DD0-7DD5-BD4F-ACF7-47D3DA6A33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9495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7.pn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199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141C5023-AF5A-1ECF-574A-C2FDA06CE407}"/>
              </a:ext>
            </a:extLst>
          </p:cNvPr>
          <p:cNvSpPr/>
          <p:nvPr/>
        </p:nvSpPr>
        <p:spPr>
          <a:xfrm>
            <a:off x="8195082" y="145343"/>
            <a:ext cx="2554879" cy="3877734"/>
          </a:xfrm>
          <a:prstGeom prst="roundRect">
            <a:avLst>
              <a:gd name="adj" fmla="val 1037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F4D4B922-F342-A99B-7EE6-41DEA0B1CE49}"/>
              </a:ext>
            </a:extLst>
          </p:cNvPr>
          <p:cNvSpPr/>
          <p:nvPr/>
        </p:nvSpPr>
        <p:spPr>
          <a:xfrm>
            <a:off x="4352570" y="169333"/>
            <a:ext cx="2554879" cy="3877734"/>
          </a:xfrm>
          <a:prstGeom prst="roundRect">
            <a:avLst>
              <a:gd name="adj" fmla="val 1037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BAD27C46-A62E-BF79-75DE-227F04A4A0C4}"/>
              </a:ext>
            </a:extLst>
          </p:cNvPr>
          <p:cNvSpPr/>
          <p:nvPr/>
        </p:nvSpPr>
        <p:spPr>
          <a:xfrm>
            <a:off x="728133" y="169333"/>
            <a:ext cx="2554879" cy="3877734"/>
          </a:xfrm>
          <a:prstGeom prst="roundRect">
            <a:avLst>
              <a:gd name="adj" fmla="val 1037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46617E62-7EE3-A8C9-9031-16B323911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959" r="5530"/>
          <a:stretch>
            <a:fillRect/>
          </a:stretch>
        </p:blipFill>
        <p:spPr>
          <a:xfrm>
            <a:off x="4442178" y="279400"/>
            <a:ext cx="2342645" cy="3609620"/>
          </a:xfrm>
          <a:prstGeom prst="rect">
            <a:avLst/>
          </a:prstGeom>
        </p:spPr>
      </p:pic>
      <p:pic>
        <p:nvPicPr>
          <p:cNvPr id="7" name="Graphique 6">
            <a:extLst>
              <a:ext uri="{FF2B5EF4-FFF2-40B4-BE49-F238E27FC236}">
                <a16:creationId xmlns:a16="http://schemas.microsoft.com/office/drawing/2014/main" id="{3B44546C-82D4-0BFC-C328-2888AAB79A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366" t="2959" r="4981"/>
          <a:stretch>
            <a:fillRect/>
          </a:stretch>
        </p:blipFill>
        <p:spPr>
          <a:xfrm>
            <a:off x="829733" y="279400"/>
            <a:ext cx="2322394" cy="3609620"/>
          </a:xfrm>
          <a:prstGeom prst="rect">
            <a:avLst/>
          </a:prstGeom>
        </p:spPr>
      </p:pic>
      <p:pic>
        <p:nvPicPr>
          <p:cNvPr id="12" name="Graphique 11">
            <a:extLst>
              <a:ext uri="{FF2B5EF4-FFF2-40B4-BE49-F238E27FC236}">
                <a16:creationId xmlns:a16="http://schemas.microsoft.com/office/drawing/2014/main" id="{3E137919-4227-417A-CDD0-ADC9C277D5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2959" r="5530"/>
          <a:stretch>
            <a:fillRect/>
          </a:stretch>
        </p:blipFill>
        <p:spPr>
          <a:xfrm>
            <a:off x="8246532" y="279400"/>
            <a:ext cx="2342645" cy="3609620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043D8037-15E1-6DC0-C935-CB19D739804F}"/>
              </a:ext>
            </a:extLst>
          </p:cNvPr>
          <p:cNvSpPr txBox="1"/>
          <p:nvPr/>
        </p:nvSpPr>
        <p:spPr>
          <a:xfrm>
            <a:off x="1006428" y="436082"/>
            <a:ext cx="7389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Verbaux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712C177-B504-8001-593C-9921A59D2E9E}"/>
              </a:ext>
            </a:extLst>
          </p:cNvPr>
          <p:cNvSpPr txBox="1"/>
          <p:nvPr/>
        </p:nvSpPr>
        <p:spPr>
          <a:xfrm>
            <a:off x="8390962" y="436082"/>
            <a:ext cx="8736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Non verbaux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2202AC9-61EA-AA17-805F-035945D266FA}"/>
              </a:ext>
            </a:extLst>
          </p:cNvPr>
          <p:cNvSpPr txBox="1"/>
          <p:nvPr/>
        </p:nvSpPr>
        <p:spPr>
          <a:xfrm>
            <a:off x="4600222" y="443776"/>
            <a:ext cx="8736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Contextuels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F1C8999-9EF2-FC21-C773-4C07019B0FD2}"/>
              </a:ext>
            </a:extLst>
          </p:cNvPr>
          <p:cNvSpPr txBox="1"/>
          <p:nvPr/>
        </p:nvSpPr>
        <p:spPr>
          <a:xfrm>
            <a:off x="1615858" y="1052186"/>
            <a:ext cx="10021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solidFill>
                  <a:schemeClr val="bg1">
                    <a:lumMod val="65000"/>
                  </a:schemeClr>
                </a:solidFill>
              </a:rPr>
              <a:t>Famille d’indices</a:t>
            </a:r>
            <a:br>
              <a:rPr lang="fr-FR" sz="800" dirty="0"/>
            </a:br>
            <a:r>
              <a:rPr lang="fr-FR" sz="800" b="1" dirty="0"/>
              <a:t>Indice à entendre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8001355-BB9A-7316-EDB6-85AC49069692}"/>
              </a:ext>
            </a:extLst>
          </p:cNvPr>
          <p:cNvSpPr txBox="1"/>
          <p:nvPr/>
        </p:nvSpPr>
        <p:spPr>
          <a:xfrm>
            <a:off x="1465677" y="3356429"/>
            <a:ext cx="144898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00" b="1" dirty="0"/>
              <a:t>Cartes à associer avec d’autres indices. </a:t>
            </a:r>
            <a:br>
              <a:rPr lang="fr-FR" sz="500" dirty="0"/>
            </a:br>
            <a:r>
              <a:rPr lang="fr-FR" sz="500" dirty="0">
                <a:solidFill>
                  <a:schemeClr val="bg1">
                    <a:lumMod val="65000"/>
                  </a:schemeClr>
                </a:solidFill>
              </a:rPr>
              <a:t>Pas de conclusion isolée : on croise ce qui est dit, vu, vécu.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70794C1-9049-110F-05B6-AFFF38B0A03D}"/>
              </a:ext>
            </a:extLst>
          </p:cNvPr>
          <p:cNvSpPr txBox="1"/>
          <p:nvPr/>
        </p:nvSpPr>
        <p:spPr>
          <a:xfrm>
            <a:off x="1081313" y="3679594"/>
            <a:ext cx="66402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00" dirty="0">
                <a:solidFill>
                  <a:schemeClr val="bg1"/>
                </a:solidFill>
              </a:rPr>
              <a:t>Stress probable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70A042B-A9B7-6BBB-D7C6-D7CF20D2CC10}"/>
              </a:ext>
            </a:extLst>
          </p:cNvPr>
          <p:cNvSpPr txBox="1"/>
          <p:nvPr/>
        </p:nvSpPr>
        <p:spPr>
          <a:xfrm>
            <a:off x="5067870" y="3356428"/>
            <a:ext cx="144898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00" b="1" dirty="0"/>
              <a:t>Cartes à associer avec d’autres indices. </a:t>
            </a:r>
            <a:br>
              <a:rPr lang="fr-FR" sz="500" dirty="0"/>
            </a:br>
            <a:r>
              <a:rPr lang="fr-FR" sz="500" dirty="0">
                <a:solidFill>
                  <a:schemeClr val="bg1">
                    <a:lumMod val="65000"/>
                  </a:schemeClr>
                </a:solidFill>
              </a:rPr>
              <a:t>Pas de conclusion isolée : on croise ce qui est dit, vu, vécu.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87DC644-5D1C-5424-0B29-B3682BC4EE37}"/>
              </a:ext>
            </a:extLst>
          </p:cNvPr>
          <p:cNvSpPr txBox="1"/>
          <p:nvPr/>
        </p:nvSpPr>
        <p:spPr>
          <a:xfrm>
            <a:off x="8938966" y="3356427"/>
            <a:ext cx="144898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00" b="1" dirty="0"/>
              <a:t>Cartes à associer avec d’autres indices. </a:t>
            </a:r>
            <a:br>
              <a:rPr lang="fr-FR" sz="500" dirty="0"/>
            </a:br>
            <a:r>
              <a:rPr lang="fr-FR" sz="500" dirty="0">
                <a:solidFill>
                  <a:schemeClr val="bg1">
                    <a:lumMod val="65000"/>
                  </a:schemeClr>
                </a:solidFill>
              </a:rPr>
              <a:t>Pas de conclusion isolée : on croise ce qui est dit, vu, vécu.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3DBA719F-08C0-14BE-5C5D-2A14823EF871}"/>
              </a:ext>
            </a:extLst>
          </p:cNvPr>
          <p:cNvSpPr txBox="1"/>
          <p:nvPr/>
        </p:nvSpPr>
        <p:spPr>
          <a:xfrm>
            <a:off x="4729497" y="3679592"/>
            <a:ext cx="66402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00" dirty="0">
                <a:solidFill>
                  <a:schemeClr val="bg1"/>
                </a:solidFill>
              </a:rPr>
              <a:t>Stress probable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8A9DCDB-7CA9-87DD-1A0A-704B32173B04}"/>
              </a:ext>
            </a:extLst>
          </p:cNvPr>
          <p:cNvSpPr txBox="1"/>
          <p:nvPr/>
        </p:nvSpPr>
        <p:spPr>
          <a:xfrm>
            <a:off x="8522563" y="3679592"/>
            <a:ext cx="66402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00" dirty="0">
                <a:solidFill>
                  <a:schemeClr val="bg1"/>
                </a:solidFill>
              </a:rPr>
              <a:t>Stress probable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D2CFBC5-144F-ED19-FEB5-73544A182833}"/>
              </a:ext>
            </a:extLst>
          </p:cNvPr>
          <p:cNvSpPr txBox="1"/>
          <p:nvPr/>
        </p:nvSpPr>
        <p:spPr>
          <a:xfrm>
            <a:off x="5291263" y="1052186"/>
            <a:ext cx="9412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solidFill>
                  <a:schemeClr val="bg1">
                    <a:lumMod val="65000"/>
                  </a:schemeClr>
                </a:solidFill>
              </a:rPr>
              <a:t>Famille d’indices</a:t>
            </a:r>
            <a:br>
              <a:rPr lang="fr-FR" sz="800" dirty="0"/>
            </a:br>
            <a:r>
              <a:rPr lang="fr-FR" sz="800" b="1" dirty="0"/>
              <a:t>Indice à relier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A921DB42-C525-F3B7-6119-B411AB295FE6}"/>
              </a:ext>
            </a:extLst>
          </p:cNvPr>
          <p:cNvSpPr txBox="1"/>
          <p:nvPr/>
        </p:nvSpPr>
        <p:spPr>
          <a:xfrm>
            <a:off x="9162359" y="1052186"/>
            <a:ext cx="9909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solidFill>
                  <a:schemeClr val="bg1">
                    <a:lumMod val="65000"/>
                  </a:schemeClr>
                </a:solidFill>
              </a:rPr>
              <a:t>Famille d’indices</a:t>
            </a:r>
            <a:br>
              <a:rPr lang="fr-FR" sz="800" dirty="0"/>
            </a:br>
            <a:r>
              <a:rPr lang="fr-FR" sz="800" b="1" dirty="0"/>
              <a:t>Indice à observer</a:t>
            </a:r>
          </a:p>
        </p:txBody>
      </p:sp>
      <p:pic>
        <p:nvPicPr>
          <p:cNvPr id="26" name="Graphique 25" descr="Oreille contour">
            <a:extLst>
              <a:ext uri="{FF2B5EF4-FFF2-40B4-BE49-F238E27FC236}">
                <a16:creationId xmlns:a16="http://schemas.microsoft.com/office/drawing/2014/main" id="{1595E894-1656-DD36-7E43-51F6E64021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1313" y="949052"/>
            <a:ext cx="411574" cy="411574"/>
          </a:xfrm>
          <a:prstGeom prst="rect">
            <a:avLst/>
          </a:prstGeom>
        </p:spPr>
      </p:pic>
      <p:pic>
        <p:nvPicPr>
          <p:cNvPr id="30" name="Graphique 29" descr="Œil contour">
            <a:extLst>
              <a:ext uri="{FF2B5EF4-FFF2-40B4-BE49-F238E27FC236}">
                <a16:creationId xmlns:a16="http://schemas.microsoft.com/office/drawing/2014/main" id="{6C7690E4-24AD-DC64-AFBA-131718FDAB5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22563" y="985561"/>
            <a:ext cx="405363" cy="338555"/>
          </a:xfrm>
          <a:prstGeom prst="rect">
            <a:avLst/>
          </a:prstGeom>
        </p:spPr>
      </p:pic>
      <p:pic>
        <p:nvPicPr>
          <p:cNvPr id="32" name="Graphique 31" descr="Connecté contour">
            <a:extLst>
              <a:ext uri="{FF2B5EF4-FFF2-40B4-BE49-F238E27FC236}">
                <a16:creationId xmlns:a16="http://schemas.microsoft.com/office/drawing/2014/main" id="{4EA085BA-3904-DF4E-46FC-4532403148B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44721" y="968219"/>
            <a:ext cx="355897" cy="355897"/>
          </a:xfrm>
          <a:prstGeom prst="rect">
            <a:avLst/>
          </a:prstGeom>
        </p:spPr>
      </p:pic>
      <p:pic>
        <p:nvPicPr>
          <p:cNvPr id="37" name="Graphique 36" descr="Gribouille contour">
            <a:extLst>
              <a:ext uri="{FF2B5EF4-FFF2-40B4-BE49-F238E27FC236}">
                <a16:creationId xmlns:a16="http://schemas.microsoft.com/office/drawing/2014/main" id="{6840413D-6194-E39A-779F-70101A50899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14660068">
            <a:off x="873879" y="4729612"/>
            <a:ext cx="263987" cy="26398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59398259-6819-3BA5-FECA-4043466DA988}"/>
              </a:ext>
            </a:extLst>
          </p:cNvPr>
          <p:cNvSpPr txBox="1"/>
          <p:nvPr/>
        </p:nvSpPr>
        <p:spPr>
          <a:xfrm>
            <a:off x="2116956" y="5399314"/>
            <a:ext cx="235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Modèles modifiables  </a:t>
            </a:r>
          </a:p>
        </p:txBody>
      </p:sp>
    </p:spTree>
    <p:extLst>
      <p:ext uri="{BB962C8B-B14F-4D97-AF65-F5344CB8AC3E}">
        <p14:creationId xmlns:p14="http://schemas.microsoft.com/office/powerpoint/2010/main" val="2259972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CE252310-35F0-1000-3520-951E15CE6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0194"/>
            <a:ext cx="1861618" cy="2801553"/>
          </a:xfrm>
          <a:prstGeom prst="rect">
            <a:avLst/>
          </a:prstGeom>
        </p:spPr>
      </p:pic>
      <p:pic>
        <p:nvPicPr>
          <p:cNvPr id="11" name="Image 10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90A7F602-8CF3-91EB-1097-F6E0FEA7B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978" y="150194"/>
            <a:ext cx="1861618" cy="2801553"/>
          </a:xfrm>
          <a:prstGeom prst="rect">
            <a:avLst/>
          </a:prstGeom>
        </p:spPr>
      </p:pic>
      <p:pic>
        <p:nvPicPr>
          <p:cNvPr id="12" name="Image 11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BF159E89-95E4-A1BF-F7AB-B6276CA19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7636" y="150194"/>
            <a:ext cx="1861618" cy="2801553"/>
          </a:xfrm>
          <a:prstGeom prst="rect">
            <a:avLst/>
          </a:prstGeom>
        </p:spPr>
      </p:pic>
      <p:pic>
        <p:nvPicPr>
          <p:cNvPr id="13" name="Image 12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AD5C35E0-87E7-3E38-B5D6-F99D266FC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294" y="150194"/>
            <a:ext cx="1861618" cy="2801553"/>
          </a:xfrm>
          <a:prstGeom prst="rect">
            <a:avLst/>
          </a:prstGeom>
        </p:spPr>
      </p:pic>
      <p:pic>
        <p:nvPicPr>
          <p:cNvPr id="14" name="Image 13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2BCC2D3A-36C5-F25F-8491-BFFDEA694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508" y="150194"/>
            <a:ext cx="1861618" cy="2801553"/>
          </a:xfrm>
          <a:prstGeom prst="rect">
            <a:avLst/>
          </a:prstGeom>
        </p:spPr>
      </p:pic>
      <p:pic>
        <p:nvPicPr>
          <p:cNvPr id="15" name="Image 14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AD4E92D3-6B7F-706A-4953-D54938F14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429000"/>
            <a:ext cx="1861618" cy="2801553"/>
          </a:xfrm>
          <a:prstGeom prst="rect">
            <a:avLst/>
          </a:prstGeom>
        </p:spPr>
      </p:pic>
      <p:pic>
        <p:nvPicPr>
          <p:cNvPr id="16" name="Image 15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DA2CE54F-4245-8ED2-7ECD-3494A315A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978" y="3429000"/>
            <a:ext cx="1861618" cy="2801553"/>
          </a:xfrm>
          <a:prstGeom prst="rect">
            <a:avLst/>
          </a:prstGeom>
        </p:spPr>
      </p:pic>
      <p:pic>
        <p:nvPicPr>
          <p:cNvPr id="17" name="Image 16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F15B06D3-DE1F-7593-5D54-3B106B1A2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318" y="3428999"/>
            <a:ext cx="1861618" cy="2801553"/>
          </a:xfrm>
          <a:prstGeom prst="rect">
            <a:avLst/>
          </a:prstGeom>
        </p:spPr>
      </p:pic>
      <p:pic>
        <p:nvPicPr>
          <p:cNvPr id="18" name="Image 17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CBA46773-EFE1-31AD-C59B-F914DC863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294" y="3428998"/>
            <a:ext cx="1861618" cy="2801553"/>
          </a:xfrm>
          <a:prstGeom prst="rect">
            <a:avLst/>
          </a:prstGeom>
        </p:spPr>
      </p:pic>
      <p:pic>
        <p:nvPicPr>
          <p:cNvPr id="19" name="Image 18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9335B159-5D6A-73F0-3942-607A2AB45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508" y="3428998"/>
            <a:ext cx="1861618" cy="2801553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F9EE2611-932E-7859-BB40-C77CBD368BE6}"/>
              </a:ext>
            </a:extLst>
          </p:cNvPr>
          <p:cNvSpPr txBox="1"/>
          <p:nvPr/>
        </p:nvSpPr>
        <p:spPr>
          <a:xfrm>
            <a:off x="504537" y="1427859"/>
            <a:ext cx="14011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« Je n’y arriverai pas. »</a:t>
            </a:r>
            <a:endParaRPr lang="fr-FR" sz="1000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ECC7D256-539B-7557-68EF-7383A01A712B}"/>
              </a:ext>
            </a:extLst>
          </p:cNvPr>
          <p:cNvSpPr txBox="1"/>
          <p:nvPr/>
        </p:nvSpPr>
        <p:spPr>
          <a:xfrm>
            <a:off x="2686195" y="1416127"/>
            <a:ext cx="14011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« C’est trop difficile. »</a:t>
            </a:r>
            <a:endParaRPr lang="fr-FR" sz="1000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0AA05B3F-9565-8FF1-5255-286C3A38437C}"/>
              </a:ext>
            </a:extLst>
          </p:cNvPr>
          <p:cNvSpPr txBox="1"/>
          <p:nvPr/>
        </p:nvSpPr>
        <p:spPr>
          <a:xfrm>
            <a:off x="4867853" y="1416126"/>
            <a:ext cx="14011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« Je ne veux pas passer / lire à voix haute. »</a:t>
            </a:r>
            <a:endParaRPr lang="fr-FR" sz="1000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1D5B6B8-A11C-C171-E155-830E089C07F8}"/>
              </a:ext>
            </a:extLst>
          </p:cNvPr>
          <p:cNvSpPr txBox="1"/>
          <p:nvPr/>
        </p:nvSpPr>
        <p:spPr>
          <a:xfrm>
            <a:off x="7049511" y="1427859"/>
            <a:ext cx="14011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« J’ai mal au ventre. »</a:t>
            </a:r>
            <a:endParaRPr lang="fr-FR" sz="1000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8266183-E269-EEAE-A2AC-EA94380EBF60}"/>
              </a:ext>
            </a:extLst>
          </p:cNvPr>
          <p:cNvSpPr txBox="1"/>
          <p:nvPr/>
        </p:nvSpPr>
        <p:spPr>
          <a:xfrm>
            <a:off x="519697" y="4706663"/>
            <a:ext cx="14011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« Je ne sais plus. »</a:t>
            </a:r>
            <a:endParaRPr lang="fr-FR" sz="1000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A91B06F8-BB97-8B84-13BE-CE118665E482}"/>
              </a:ext>
            </a:extLst>
          </p:cNvPr>
          <p:cNvSpPr txBox="1"/>
          <p:nvPr/>
        </p:nvSpPr>
        <p:spPr>
          <a:xfrm>
            <a:off x="2655878" y="4706662"/>
            <a:ext cx="14011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« J’ai peur de rater. »</a:t>
            </a:r>
            <a:endParaRPr lang="fr-FR" sz="1000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123CA777-8BAF-CF97-0363-2FA6DD4977C8}"/>
              </a:ext>
            </a:extLst>
          </p:cNvPr>
          <p:cNvSpPr txBox="1"/>
          <p:nvPr/>
        </p:nvSpPr>
        <p:spPr>
          <a:xfrm>
            <a:off x="4867853" y="4598939"/>
            <a:ext cx="13239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« Je veux recommencer, ce n’est pas assez bien. »</a:t>
            </a:r>
            <a:endParaRPr lang="fr-FR" sz="100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AE5C54C8-9417-AB2B-FAEF-65C460C36648}"/>
              </a:ext>
            </a:extLst>
          </p:cNvPr>
          <p:cNvSpPr txBox="1"/>
          <p:nvPr/>
        </p:nvSpPr>
        <p:spPr>
          <a:xfrm>
            <a:off x="7049510" y="4706661"/>
            <a:ext cx="1401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« Je ne veux pas être avec le groupe. » 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360F20C0-CCA0-F3D7-DE90-8BB2410EEB1D}"/>
              </a:ext>
            </a:extLst>
          </p:cNvPr>
          <p:cNvSpPr txBox="1"/>
          <p:nvPr/>
        </p:nvSpPr>
        <p:spPr>
          <a:xfrm>
            <a:off x="9152725" y="1416125"/>
            <a:ext cx="1401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« Je veux aller à l’infirmerie / rentrer. »</a:t>
            </a:r>
            <a:endParaRPr lang="fr-FR" sz="1000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6537D75A-E7D2-E498-4F87-9F27A5B78CDF}"/>
              </a:ext>
            </a:extLst>
          </p:cNvPr>
          <p:cNvSpPr txBox="1"/>
          <p:nvPr/>
        </p:nvSpPr>
        <p:spPr>
          <a:xfrm>
            <a:off x="9152724" y="4713696"/>
            <a:ext cx="1401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« ça sert à rien et c’est trop nul ce qu’on fait»</a:t>
            </a:r>
            <a:endParaRPr lang="fr-FR" sz="1000" dirty="0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D2A0FB38-A863-A081-75F5-FB13F3FF7737}"/>
              </a:ext>
            </a:extLst>
          </p:cNvPr>
          <p:cNvSpPr txBox="1"/>
          <p:nvPr/>
        </p:nvSpPr>
        <p:spPr>
          <a:xfrm>
            <a:off x="1577699" y="396612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1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F58C4720-B455-AC50-3595-AB68A4FD3163}"/>
              </a:ext>
            </a:extLst>
          </p:cNvPr>
          <p:cNvSpPr txBox="1"/>
          <p:nvPr/>
        </p:nvSpPr>
        <p:spPr>
          <a:xfrm>
            <a:off x="3740267" y="396612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2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ED8D6B93-9253-3135-660B-3C7DC8360FFF}"/>
              </a:ext>
            </a:extLst>
          </p:cNvPr>
          <p:cNvSpPr txBox="1"/>
          <p:nvPr/>
        </p:nvSpPr>
        <p:spPr>
          <a:xfrm>
            <a:off x="5926186" y="401704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3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43212289-A207-6E65-71FF-B1190CBCBBA4}"/>
              </a:ext>
            </a:extLst>
          </p:cNvPr>
          <p:cNvSpPr txBox="1"/>
          <p:nvPr/>
        </p:nvSpPr>
        <p:spPr>
          <a:xfrm>
            <a:off x="1577699" y="3675417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6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2C9578A7-201D-1557-98CC-B34894705EB5}"/>
              </a:ext>
            </a:extLst>
          </p:cNvPr>
          <p:cNvSpPr txBox="1"/>
          <p:nvPr/>
        </p:nvSpPr>
        <p:spPr>
          <a:xfrm>
            <a:off x="3750151" y="3675417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7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1F9445C6-348E-2709-AD13-88F7DF0D6644}"/>
              </a:ext>
            </a:extLst>
          </p:cNvPr>
          <p:cNvSpPr txBox="1"/>
          <p:nvPr/>
        </p:nvSpPr>
        <p:spPr>
          <a:xfrm>
            <a:off x="5926186" y="3675212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8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809B745C-D0F3-DB59-53EF-45E617E987EE}"/>
              </a:ext>
            </a:extLst>
          </p:cNvPr>
          <p:cNvSpPr txBox="1"/>
          <p:nvPr/>
        </p:nvSpPr>
        <p:spPr>
          <a:xfrm>
            <a:off x="8123771" y="388878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4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C77C62F7-0EAD-35BE-8F60-A263587AFCFB}"/>
              </a:ext>
            </a:extLst>
          </p:cNvPr>
          <p:cNvSpPr txBox="1"/>
          <p:nvPr/>
        </p:nvSpPr>
        <p:spPr>
          <a:xfrm>
            <a:off x="8123771" y="3675212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9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8DA22372-140D-FC09-E033-0A41A98B2EC2}"/>
              </a:ext>
            </a:extLst>
          </p:cNvPr>
          <p:cNvSpPr txBox="1"/>
          <p:nvPr/>
        </p:nvSpPr>
        <p:spPr>
          <a:xfrm>
            <a:off x="10231777" y="381361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5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10D211A6-6016-6833-F676-6D2410696C22}"/>
              </a:ext>
            </a:extLst>
          </p:cNvPr>
          <p:cNvSpPr txBox="1"/>
          <p:nvPr/>
        </p:nvSpPr>
        <p:spPr>
          <a:xfrm>
            <a:off x="10194107" y="3675212"/>
            <a:ext cx="3353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10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50C48E3-6CC2-62A7-FB8B-819D890F2A75}"/>
              </a:ext>
            </a:extLst>
          </p:cNvPr>
          <p:cNvSpPr txBox="1"/>
          <p:nvPr/>
        </p:nvSpPr>
        <p:spPr>
          <a:xfrm>
            <a:off x="324760" y="6476871"/>
            <a:ext cx="13829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Cartes à imprimer</a:t>
            </a:r>
          </a:p>
        </p:txBody>
      </p:sp>
    </p:spTree>
    <p:extLst>
      <p:ext uri="{BB962C8B-B14F-4D97-AF65-F5344CB8AC3E}">
        <p14:creationId xmlns:p14="http://schemas.microsoft.com/office/powerpoint/2010/main" val="2178945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0FB3F05C-7B27-D8F4-E713-30561EF4C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725" y="382270"/>
            <a:ext cx="1861618" cy="2801553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C064ED90-0519-9A3E-8BE8-A5B70CCAA041}"/>
              </a:ext>
            </a:extLst>
          </p:cNvPr>
          <p:cNvSpPr txBox="1"/>
          <p:nvPr/>
        </p:nvSpPr>
        <p:spPr>
          <a:xfrm>
            <a:off x="543942" y="1659932"/>
            <a:ext cx="14011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Se tortille ou s’agite sur sa chaise – bouge beaucoup</a:t>
            </a:r>
            <a:endParaRPr lang="fr-FR" sz="1000" dirty="0"/>
          </a:p>
        </p:txBody>
      </p:sp>
      <p:pic>
        <p:nvPicPr>
          <p:cNvPr id="16" name="Image 15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E05C2E1C-8BDF-DFB8-6C4E-15BD89364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950" y="382270"/>
            <a:ext cx="1861618" cy="2801553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C668BE10-D883-4CE7-DB8E-E2F18500A0DA}"/>
              </a:ext>
            </a:extLst>
          </p:cNvPr>
          <p:cNvSpPr txBox="1"/>
          <p:nvPr/>
        </p:nvSpPr>
        <p:spPr>
          <a:xfrm>
            <a:off x="2778167" y="1659932"/>
            <a:ext cx="14011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Évite le regard, se replie, se fait tout petit</a:t>
            </a:r>
            <a:endParaRPr lang="fr-FR" sz="1000" dirty="0"/>
          </a:p>
        </p:txBody>
      </p:sp>
      <p:pic>
        <p:nvPicPr>
          <p:cNvPr id="18" name="Image 17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93E46D03-3C51-5A8B-C3B5-8730CBD05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176" y="382270"/>
            <a:ext cx="1861618" cy="2801553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85BD4E94-E129-E1DE-6C2D-65A7EDF551D7}"/>
              </a:ext>
            </a:extLst>
          </p:cNvPr>
          <p:cNvSpPr txBox="1"/>
          <p:nvPr/>
        </p:nvSpPr>
        <p:spPr>
          <a:xfrm>
            <a:off x="5012393" y="1659932"/>
            <a:ext cx="1401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Rougit, transpire ou tremble</a:t>
            </a:r>
            <a:endParaRPr lang="fr-FR" sz="1000" dirty="0"/>
          </a:p>
        </p:txBody>
      </p:sp>
      <p:pic>
        <p:nvPicPr>
          <p:cNvPr id="20" name="Image 19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D5130082-7A1A-C33B-73A2-6717D96FD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2544" y="382265"/>
            <a:ext cx="1861618" cy="2801553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2E2DA8BB-471B-9001-7AF5-76F9309669A7}"/>
              </a:ext>
            </a:extLst>
          </p:cNvPr>
          <p:cNvSpPr txBox="1"/>
          <p:nvPr/>
        </p:nvSpPr>
        <p:spPr>
          <a:xfrm>
            <a:off x="7332761" y="1659927"/>
            <a:ext cx="1401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Respire vite, semble à bout de souffle</a:t>
            </a:r>
            <a:endParaRPr lang="fr-FR" sz="1000" dirty="0"/>
          </a:p>
        </p:txBody>
      </p:sp>
      <p:pic>
        <p:nvPicPr>
          <p:cNvPr id="22" name="Image 21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B32908A6-5894-C6FB-B079-B3A86A5F2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3833" y="382260"/>
            <a:ext cx="1861618" cy="2801553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5787A78C-8CEA-3766-1251-21DBEBC242A4}"/>
              </a:ext>
            </a:extLst>
          </p:cNvPr>
          <p:cNvSpPr txBox="1"/>
          <p:nvPr/>
        </p:nvSpPr>
        <p:spPr>
          <a:xfrm>
            <a:off x="9644050" y="1659922"/>
            <a:ext cx="1401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Se fige, serre les poings, corps tendu</a:t>
            </a:r>
            <a:endParaRPr lang="fr-FR" sz="1000" dirty="0"/>
          </a:p>
        </p:txBody>
      </p:sp>
      <p:pic>
        <p:nvPicPr>
          <p:cNvPr id="24" name="Image 23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B529EA75-A629-0D3B-232D-E0890871D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51" y="3429010"/>
            <a:ext cx="1861618" cy="2801553"/>
          </a:xfrm>
          <a:prstGeom prst="rect">
            <a:avLst/>
          </a:prstGeom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44E25FE7-A6B0-9D88-4096-973C8E48C33B}"/>
              </a:ext>
            </a:extLst>
          </p:cNvPr>
          <p:cNvSpPr txBox="1"/>
          <p:nvPr/>
        </p:nvSpPr>
        <p:spPr>
          <a:xfrm>
            <a:off x="564068" y="4706672"/>
            <a:ext cx="1401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Se figer quant on l’interroge</a:t>
            </a:r>
          </a:p>
        </p:txBody>
      </p:sp>
      <p:pic>
        <p:nvPicPr>
          <p:cNvPr id="26" name="Image 25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01AB2CB4-33AD-4CC4-650B-2FE3D45FA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076" y="3429010"/>
            <a:ext cx="1861618" cy="2801553"/>
          </a:xfrm>
          <a:prstGeom prst="rect">
            <a:avLst/>
          </a:prstGeom>
        </p:spPr>
      </p:pic>
      <p:sp>
        <p:nvSpPr>
          <p:cNvPr id="27" name="ZoneTexte 26">
            <a:extLst>
              <a:ext uri="{FF2B5EF4-FFF2-40B4-BE49-F238E27FC236}">
                <a16:creationId xmlns:a16="http://schemas.microsoft.com/office/drawing/2014/main" id="{65F4D224-0C39-EF29-D49E-BC19B64F8931}"/>
              </a:ext>
            </a:extLst>
          </p:cNvPr>
          <p:cNvSpPr txBox="1"/>
          <p:nvPr/>
        </p:nvSpPr>
        <p:spPr>
          <a:xfrm>
            <a:off x="2798293" y="4706672"/>
            <a:ext cx="1401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pleurer ou retenir ses larmes</a:t>
            </a:r>
            <a:endParaRPr lang="fr-FR" sz="1000" dirty="0"/>
          </a:p>
        </p:txBody>
      </p:sp>
      <p:pic>
        <p:nvPicPr>
          <p:cNvPr id="28" name="Image 27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C43661AB-72AF-A838-D2E3-D1EB716C8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302" y="3429010"/>
            <a:ext cx="1861618" cy="2801553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6135185E-9A57-0A02-DB3A-2CB463594BF6}"/>
              </a:ext>
            </a:extLst>
          </p:cNvPr>
          <p:cNvSpPr txBox="1"/>
          <p:nvPr/>
        </p:nvSpPr>
        <p:spPr>
          <a:xfrm>
            <a:off x="5032519" y="4706672"/>
            <a:ext cx="1401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Lenteur excessive par peur de se tromper</a:t>
            </a:r>
            <a:endParaRPr lang="fr-FR" sz="1000" dirty="0"/>
          </a:p>
        </p:txBody>
      </p:sp>
      <p:pic>
        <p:nvPicPr>
          <p:cNvPr id="30" name="Image 29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BBF5264E-5E5D-8659-8762-953CD9DFE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2670" y="3429005"/>
            <a:ext cx="1861618" cy="2801553"/>
          </a:xfrm>
          <a:prstGeom prst="rect">
            <a:avLst/>
          </a:prstGeom>
        </p:spPr>
      </p:pic>
      <p:sp>
        <p:nvSpPr>
          <p:cNvPr id="31" name="ZoneTexte 30">
            <a:extLst>
              <a:ext uri="{FF2B5EF4-FFF2-40B4-BE49-F238E27FC236}">
                <a16:creationId xmlns:a16="http://schemas.microsoft.com/office/drawing/2014/main" id="{1BA497A6-589D-1460-770C-AD75FA463764}"/>
              </a:ext>
            </a:extLst>
          </p:cNvPr>
          <p:cNvSpPr txBox="1"/>
          <p:nvPr/>
        </p:nvSpPr>
        <p:spPr>
          <a:xfrm>
            <a:off x="7352887" y="4706667"/>
            <a:ext cx="14011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Effacer et recommencer sans cesse</a:t>
            </a:r>
          </a:p>
        </p:txBody>
      </p:sp>
      <p:pic>
        <p:nvPicPr>
          <p:cNvPr id="32" name="Image 31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7486954D-13BC-584B-5845-A86837ED2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3038" y="3429005"/>
            <a:ext cx="1861618" cy="2801553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E8D0444D-723B-E0C8-980D-4745076FEAD3}"/>
              </a:ext>
            </a:extLst>
          </p:cNvPr>
          <p:cNvSpPr txBox="1"/>
          <p:nvPr/>
        </p:nvSpPr>
        <p:spPr>
          <a:xfrm>
            <a:off x="9664176" y="4706662"/>
            <a:ext cx="14011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Se ronger les ongles</a:t>
            </a:r>
            <a:endParaRPr lang="fr-FR" sz="1000" dirty="0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3A3BE0B1-606C-A9A2-53B5-342EA6052B71}"/>
              </a:ext>
            </a:extLst>
          </p:cNvPr>
          <p:cNvSpPr txBox="1"/>
          <p:nvPr/>
        </p:nvSpPr>
        <p:spPr>
          <a:xfrm>
            <a:off x="1589291" y="642688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1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F62ED2B3-E69A-E175-4163-3F50C9FD6690}"/>
              </a:ext>
            </a:extLst>
          </p:cNvPr>
          <p:cNvSpPr txBox="1"/>
          <p:nvPr/>
        </p:nvSpPr>
        <p:spPr>
          <a:xfrm>
            <a:off x="3844400" y="634954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2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74BCE467-DF3B-D481-3F1F-A6E262F2F8E3}"/>
              </a:ext>
            </a:extLst>
          </p:cNvPr>
          <p:cNvSpPr txBox="1"/>
          <p:nvPr/>
        </p:nvSpPr>
        <p:spPr>
          <a:xfrm>
            <a:off x="6024227" y="642688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3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10769517-CBA2-B209-3000-38880EBD450C}"/>
              </a:ext>
            </a:extLst>
          </p:cNvPr>
          <p:cNvSpPr txBox="1"/>
          <p:nvPr/>
        </p:nvSpPr>
        <p:spPr>
          <a:xfrm>
            <a:off x="1589291" y="3687417"/>
            <a:ext cx="26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6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ECC32380-3C39-572D-FD12-0BFBE487E16C}"/>
              </a:ext>
            </a:extLst>
          </p:cNvPr>
          <p:cNvSpPr txBox="1"/>
          <p:nvPr/>
        </p:nvSpPr>
        <p:spPr>
          <a:xfrm>
            <a:off x="3846258" y="3687417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7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C093FFC9-2BBD-5B80-5222-5AD6C9700341}"/>
              </a:ext>
            </a:extLst>
          </p:cNvPr>
          <p:cNvSpPr txBox="1"/>
          <p:nvPr/>
        </p:nvSpPr>
        <p:spPr>
          <a:xfrm>
            <a:off x="6096000" y="3687417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8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CFE1890C-DDCE-AD20-268E-CF15E7F74C94}"/>
              </a:ext>
            </a:extLst>
          </p:cNvPr>
          <p:cNvSpPr txBox="1"/>
          <p:nvPr/>
        </p:nvSpPr>
        <p:spPr>
          <a:xfrm>
            <a:off x="8379039" y="655278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4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0BBE32B8-E38D-09E2-5EB8-70604C087DA8}"/>
              </a:ext>
            </a:extLst>
          </p:cNvPr>
          <p:cNvSpPr txBox="1"/>
          <p:nvPr/>
        </p:nvSpPr>
        <p:spPr>
          <a:xfrm>
            <a:off x="8410288" y="3687417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9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C11680BF-65CD-B71D-0CBF-8BF1047A836D}"/>
              </a:ext>
            </a:extLst>
          </p:cNvPr>
          <p:cNvSpPr txBox="1"/>
          <p:nvPr/>
        </p:nvSpPr>
        <p:spPr>
          <a:xfrm>
            <a:off x="10699270" y="642688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5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2806BCF7-8ECA-1801-DD0D-64E4185152B8}"/>
              </a:ext>
            </a:extLst>
          </p:cNvPr>
          <p:cNvSpPr txBox="1"/>
          <p:nvPr/>
        </p:nvSpPr>
        <p:spPr>
          <a:xfrm>
            <a:off x="10661599" y="3687417"/>
            <a:ext cx="3353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10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5476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, capture d’écran, Téléphone mobile, gadget&#10;&#10;Le contenu généré par l’IA peut être incorrect.">
            <a:extLst>
              <a:ext uri="{FF2B5EF4-FFF2-40B4-BE49-F238E27FC236}">
                <a16:creationId xmlns:a16="http://schemas.microsoft.com/office/drawing/2014/main" id="{91540DFF-4683-F7EC-556D-FBC6F20E8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404" y="67618"/>
            <a:ext cx="1861617" cy="282928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FCF96FC-DC33-A754-C9D4-F24BC124F3BD}"/>
              </a:ext>
            </a:extLst>
          </p:cNvPr>
          <p:cNvSpPr txBox="1"/>
          <p:nvPr/>
        </p:nvSpPr>
        <p:spPr>
          <a:xfrm>
            <a:off x="916196" y="1282207"/>
            <a:ext cx="14011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Prise de parole ou lecture devant la classe</a:t>
            </a:r>
            <a:endParaRPr lang="fr-FR" sz="1000" dirty="0"/>
          </a:p>
        </p:txBody>
      </p:sp>
      <p:pic>
        <p:nvPicPr>
          <p:cNvPr id="7" name="Image 6" descr="Une image contenant texte, capture d’écran, Téléphone mobile, gadget&#10;&#10;Le contenu généré par l’IA peut être incorrect.">
            <a:extLst>
              <a:ext uri="{FF2B5EF4-FFF2-40B4-BE49-F238E27FC236}">
                <a16:creationId xmlns:a16="http://schemas.microsoft.com/office/drawing/2014/main" id="{01CB1670-A2D8-04D1-E4B6-43387FE52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965" y="67618"/>
            <a:ext cx="1861617" cy="2829289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F21C16F7-7864-21F0-D59F-875BFCBF1BDD}"/>
              </a:ext>
            </a:extLst>
          </p:cNvPr>
          <p:cNvSpPr txBox="1"/>
          <p:nvPr/>
        </p:nvSpPr>
        <p:spPr>
          <a:xfrm>
            <a:off x="3164757" y="1282207"/>
            <a:ext cx="14011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Évaluation, tâche notée, peur de l’échec</a:t>
            </a:r>
            <a:endParaRPr lang="fr-FR" sz="1000" dirty="0"/>
          </a:p>
        </p:txBody>
      </p:sp>
      <p:pic>
        <p:nvPicPr>
          <p:cNvPr id="9" name="Image 8" descr="Une image contenant texte, capture d’écran, Téléphone mobile, gadget&#10;&#10;Le contenu généré par l’IA peut être incorrect.">
            <a:extLst>
              <a:ext uri="{FF2B5EF4-FFF2-40B4-BE49-F238E27FC236}">
                <a16:creationId xmlns:a16="http://schemas.microsoft.com/office/drawing/2014/main" id="{B367623F-A2BA-A603-1BEE-58F73AD63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068" y="67618"/>
            <a:ext cx="1861617" cy="2829289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9DB7CBAE-D01D-43F8-9567-3D130C73807F}"/>
              </a:ext>
            </a:extLst>
          </p:cNvPr>
          <p:cNvSpPr txBox="1"/>
          <p:nvPr/>
        </p:nvSpPr>
        <p:spPr>
          <a:xfrm>
            <a:off x="5497860" y="1282207"/>
            <a:ext cx="14011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Retour après une absence ou des vacances</a:t>
            </a:r>
            <a:endParaRPr lang="fr-FR" sz="1000" dirty="0"/>
          </a:p>
        </p:txBody>
      </p:sp>
      <p:pic>
        <p:nvPicPr>
          <p:cNvPr id="11" name="Image 10" descr="Une image contenant texte, capture d’écran, Téléphone mobile, gadget&#10;&#10;Le contenu généré par l’IA peut être incorrect.">
            <a:extLst>
              <a:ext uri="{FF2B5EF4-FFF2-40B4-BE49-F238E27FC236}">
                <a16:creationId xmlns:a16="http://schemas.microsoft.com/office/drawing/2014/main" id="{A88F5C12-B612-4071-354C-DE54CD5F2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171" y="67617"/>
            <a:ext cx="1861617" cy="2829289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0941B53E-FD8C-DA31-3B27-E334C2D25052}"/>
              </a:ext>
            </a:extLst>
          </p:cNvPr>
          <p:cNvSpPr txBox="1"/>
          <p:nvPr/>
        </p:nvSpPr>
        <p:spPr>
          <a:xfrm>
            <a:off x="7723388" y="1282206"/>
            <a:ext cx="14011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Après un conflit ou une moquerie avec les pairs. </a:t>
            </a:r>
            <a:endParaRPr lang="fr-FR" sz="1000" dirty="0"/>
          </a:p>
        </p:txBody>
      </p:sp>
      <p:pic>
        <p:nvPicPr>
          <p:cNvPr id="13" name="Image 12" descr="Une image contenant texte, capture d’écran, Téléphone mobile, gadget&#10;&#10;Le contenu généré par l’IA peut être incorrect.">
            <a:extLst>
              <a:ext uri="{FF2B5EF4-FFF2-40B4-BE49-F238E27FC236}">
                <a16:creationId xmlns:a16="http://schemas.microsoft.com/office/drawing/2014/main" id="{483B3DFA-942F-B55D-D538-3D0EAFFFB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6274" y="67617"/>
            <a:ext cx="1861617" cy="2829289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C1C966DB-0E9F-6386-ADBC-5BCFDB45E148}"/>
              </a:ext>
            </a:extLst>
          </p:cNvPr>
          <p:cNvSpPr txBox="1"/>
          <p:nvPr/>
        </p:nvSpPr>
        <p:spPr>
          <a:xfrm>
            <a:off x="10056490" y="1282206"/>
            <a:ext cx="14011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Difficulté scolaire soudaine ou pression de performance</a:t>
            </a:r>
            <a:endParaRPr lang="fr-FR" sz="1000" dirty="0"/>
          </a:p>
        </p:txBody>
      </p:sp>
      <p:pic>
        <p:nvPicPr>
          <p:cNvPr id="15" name="Image 14" descr="Une image contenant texte, capture d’écran, Téléphone mobile, gadget&#10;&#10;Le contenu généré par l’IA peut être incorrect.">
            <a:extLst>
              <a:ext uri="{FF2B5EF4-FFF2-40B4-BE49-F238E27FC236}">
                <a16:creationId xmlns:a16="http://schemas.microsoft.com/office/drawing/2014/main" id="{737C6D07-0068-C54C-1E01-0AA95F405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455" y="3504203"/>
            <a:ext cx="1861617" cy="2829289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4BFF1EB8-BAAF-8EB2-9D7D-A25BFBB8AAA9}"/>
              </a:ext>
            </a:extLst>
          </p:cNvPr>
          <p:cNvSpPr txBox="1"/>
          <p:nvPr/>
        </p:nvSpPr>
        <p:spPr>
          <a:xfrm>
            <a:off x="866248" y="4718792"/>
            <a:ext cx="1204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Pendant une consigne nouvelle ou floue</a:t>
            </a:r>
            <a:endParaRPr lang="fr-FR" sz="1000" dirty="0"/>
          </a:p>
        </p:txBody>
      </p:sp>
      <p:pic>
        <p:nvPicPr>
          <p:cNvPr id="17" name="Image 16" descr="Une image contenant texte, capture d’écran, Téléphone mobile, gadget&#10;&#10;Le contenu généré par l’IA peut être incorrect.">
            <a:extLst>
              <a:ext uri="{FF2B5EF4-FFF2-40B4-BE49-F238E27FC236}">
                <a16:creationId xmlns:a16="http://schemas.microsoft.com/office/drawing/2014/main" id="{7CD83D0E-04B9-763D-2554-DE157FF1D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016" y="3504203"/>
            <a:ext cx="1861617" cy="2829289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3B56AF42-AB97-25FB-F282-1CFF70C702C2}"/>
              </a:ext>
            </a:extLst>
          </p:cNvPr>
          <p:cNvSpPr txBox="1"/>
          <p:nvPr/>
        </p:nvSpPr>
        <p:spPr>
          <a:xfrm>
            <a:off x="3114809" y="4718792"/>
            <a:ext cx="1228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Après une erreur devant les autres</a:t>
            </a:r>
            <a:endParaRPr lang="fr-FR" sz="1000" dirty="0"/>
          </a:p>
        </p:txBody>
      </p:sp>
      <p:pic>
        <p:nvPicPr>
          <p:cNvPr id="19" name="Image 18" descr="Une image contenant texte, capture d’écran, Téléphone mobile, gadget&#10;&#10;Le contenu généré par l’IA peut être incorrect.">
            <a:extLst>
              <a:ext uri="{FF2B5EF4-FFF2-40B4-BE49-F238E27FC236}">
                <a16:creationId xmlns:a16="http://schemas.microsoft.com/office/drawing/2014/main" id="{37C03FE3-B996-B493-272A-04CBD4D49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0119" y="3504203"/>
            <a:ext cx="1861617" cy="2829289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DB9448AE-9CBB-9007-16EE-C5911F8DA2A9}"/>
              </a:ext>
            </a:extLst>
          </p:cNvPr>
          <p:cNvSpPr txBox="1"/>
          <p:nvPr/>
        </p:nvSpPr>
        <p:spPr>
          <a:xfrm>
            <a:off x="5447911" y="4718792"/>
            <a:ext cx="1401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Quand le bruit de la classe augmente</a:t>
            </a:r>
            <a:endParaRPr lang="fr-FR" sz="1000" dirty="0"/>
          </a:p>
        </p:txBody>
      </p:sp>
      <p:pic>
        <p:nvPicPr>
          <p:cNvPr id="21" name="Image 20" descr="Une image contenant texte, capture d’écran, Téléphone mobile, gadget&#10;&#10;Le contenu généré par l’IA peut être incorrect.">
            <a:extLst>
              <a:ext uri="{FF2B5EF4-FFF2-40B4-BE49-F238E27FC236}">
                <a16:creationId xmlns:a16="http://schemas.microsoft.com/office/drawing/2014/main" id="{265ED918-6981-DA30-ED67-F47504C07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222" y="3504202"/>
            <a:ext cx="1861617" cy="2829289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0A05DD05-8951-F971-C222-87649B09B439}"/>
              </a:ext>
            </a:extLst>
          </p:cNvPr>
          <p:cNvSpPr txBox="1"/>
          <p:nvPr/>
        </p:nvSpPr>
        <p:spPr>
          <a:xfrm>
            <a:off x="7781015" y="4718791"/>
            <a:ext cx="12150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Dans une transition d’activité </a:t>
            </a:r>
            <a:endParaRPr lang="fr-FR" sz="1000" dirty="0"/>
          </a:p>
        </p:txBody>
      </p:sp>
      <p:pic>
        <p:nvPicPr>
          <p:cNvPr id="23" name="Image 22" descr="Une image contenant texte, capture d’écran, Téléphone mobile, gadget&#10;&#10;Le contenu généré par l’IA peut être incorrect.">
            <a:extLst>
              <a:ext uri="{FF2B5EF4-FFF2-40B4-BE49-F238E27FC236}">
                <a16:creationId xmlns:a16="http://schemas.microsoft.com/office/drawing/2014/main" id="{800E8E16-72ED-2805-4312-32537D3F2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6325" y="3504202"/>
            <a:ext cx="1861617" cy="2829289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046DFFE9-4359-1666-0218-51DC5476B81A}"/>
              </a:ext>
            </a:extLst>
          </p:cNvPr>
          <p:cNvSpPr txBox="1"/>
          <p:nvPr/>
        </p:nvSpPr>
        <p:spPr>
          <a:xfrm>
            <a:off x="10114117" y="4718791"/>
            <a:ext cx="121163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000" dirty="0"/>
              <a:t>Quand la tâche demande rapidité ou performance</a:t>
            </a:r>
            <a:endParaRPr lang="fr-FR" sz="1000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238700E2-51E3-D1D1-90DD-09FDC51ED45C}"/>
              </a:ext>
            </a:extLst>
          </p:cNvPr>
          <p:cNvSpPr txBox="1"/>
          <p:nvPr/>
        </p:nvSpPr>
        <p:spPr>
          <a:xfrm>
            <a:off x="1912176" y="322852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1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86A43A6F-D27F-BF6D-2229-F224853F546B}"/>
              </a:ext>
            </a:extLst>
          </p:cNvPr>
          <p:cNvSpPr txBox="1"/>
          <p:nvPr/>
        </p:nvSpPr>
        <p:spPr>
          <a:xfrm>
            <a:off x="4143534" y="307607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2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333B91F-5CEB-05A3-EE6C-DE9D614CDFDD}"/>
              </a:ext>
            </a:extLst>
          </p:cNvPr>
          <p:cNvSpPr txBox="1"/>
          <p:nvPr/>
        </p:nvSpPr>
        <p:spPr>
          <a:xfrm>
            <a:off x="6448378" y="307607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3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94D2B96-E45B-4AFD-4A0E-320928995BF0}"/>
              </a:ext>
            </a:extLst>
          </p:cNvPr>
          <p:cNvSpPr txBox="1"/>
          <p:nvPr/>
        </p:nvSpPr>
        <p:spPr>
          <a:xfrm>
            <a:off x="1861540" y="3746340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6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1921356F-1014-7BF6-8D2E-58947FC33FFD}"/>
              </a:ext>
            </a:extLst>
          </p:cNvPr>
          <p:cNvSpPr txBox="1"/>
          <p:nvPr/>
        </p:nvSpPr>
        <p:spPr>
          <a:xfrm>
            <a:off x="4081668" y="3746340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7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EE4BC523-179F-DE3C-2CC0-DE93FD4FB1AB}"/>
              </a:ext>
            </a:extLst>
          </p:cNvPr>
          <p:cNvSpPr txBox="1"/>
          <p:nvPr/>
        </p:nvSpPr>
        <p:spPr>
          <a:xfrm>
            <a:off x="6419772" y="3746340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8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F7753C6F-E4BB-7F12-1764-F3577F301C1A}"/>
              </a:ext>
            </a:extLst>
          </p:cNvPr>
          <p:cNvSpPr txBox="1"/>
          <p:nvPr/>
        </p:nvSpPr>
        <p:spPr>
          <a:xfrm>
            <a:off x="8816926" y="322852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4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5E2B61A2-B210-3483-3DB7-5FEA5E5278B5}"/>
              </a:ext>
            </a:extLst>
          </p:cNvPr>
          <p:cNvSpPr txBox="1"/>
          <p:nvPr/>
        </p:nvSpPr>
        <p:spPr>
          <a:xfrm>
            <a:off x="8754158" y="3746340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9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BAF5BE6F-489B-9570-1ED7-BB2518F56945}"/>
              </a:ext>
            </a:extLst>
          </p:cNvPr>
          <p:cNvSpPr txBox="1"/>
          <p:nvPr/>
        </p:nvSpPr>
        <p:spPr>
          <a:xfrm>
            <a:off x="11135837" y="307607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5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1D5C58BE-07DA-2131-D1C2-4B727C898A70}"/>
              </a:ext>
            </a:extLst>
          </p:cNvPr>
          <p:cNvSpPr txBox="1"/>
          <p:nvPr/>
        </p:nvSpPr>
        <p:spPr>
          <a:xfrm>
            <a:off x="11053204" y="3746340"/>
            <a:ext cx="3353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10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1091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47CE819C-55C0-304E-B918-7B50304A4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10" y="316459"/>
            <a:ext cx="1861618" cy="2801553"/>
          </a:xfrm>
          <a:prstGeom prst="rect">
            <a:avLst/>
          </a:prstGeom>
        </p:spPr>
      </p:pic>
      <p:pic>
        <p:nvPicPr>
          <p:cNvPr id="15" name="Graphique 14" descr="Gribouille contour">
            <a:extLst>
              <a:ext uri="{FF2B5EF4-FFF2-40B4-BE49-F238E27FC236}">
                <a16:creationId xmlns:a16="http://schemas.microsoft.com/office/drawing/2014/main" id="{5101FE93-EA5C-0EB2-F725-D45E1536DB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4095" y="2558560"/>
            <a:ext cx="263987" cy="263987"/>
          </a:xfrm>
          <a:prstGeom prst="rect">
            <a:avLst/>
          </a:prstGeom>
        </p:spPr>
      </p:pic>
      <p:pic>
        <p:nvPicPr>
          <p:cNvPr id="34" name="Image 33" descr="Une image contenant texte, capture d’écran, Téléphone mobile, gadget&#10;&#10;Le contenu généré par l’IA peut être incorrect.">
            <a:extLst>
              <a:ext uri="{FF2B5EF4-FFF2-40B4-BE49-F238E27FC236}">
                <a16:creationId xmlns:a16="http://schemas.microsoft.com/office/drawing/2014/main" id="{C920ABA3-15C1-00C9-AABA-65352980B0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0679" y="302592"/>
            <a:ext cx="1861617" cy="2829289"/>
          </a:xfrm>
          <a:prstGeom prst="rect">
            <a:avLst/>
          </a:prstGeom>
        </p:spPr>
      </p:pic>
      <p:pic>
        <p:nvPicPr>
          <p:cNvPr id="35" name="Image 34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127947D1-B8A9-E099-C9CE-43B7646211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8241" y="302592"/>
            <a:ext cx="1861618" cy="2801553"/>
          </a:xfrm>
          <a:prstGeom prst="rect">
            <a:avLst/>
          </a:prstGeom>
        </p:spPr>
      </p:pic>
      <p:pic>
        <p:nvPicPr>
          <p:cNvPr id="36" name="Graphique 35" descr="Gribouille contour">
            <a:extLst>
              <a:ext uri="{FF2B5EF4-FFF2-40B4-BE49-F238E27FC236}">
                <a16:creationId xmlns:a16="http://schemas.microsoft.com/office/drawing/2014/main" id="{AC577648-BE4A-95C6-2918-55F300E908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15132" y="2546491"/>
            <a:ext cx="319346" cy="319346"/>
          </a:xfrm>
          <a:prstGeom prst="rect">
            <a:avLst/>
          </a:prstGeom>
        </p:spPr>
      </p:pic>
      <p:pic>
        <p:nvPicPr>
          <p:cNvPr id="38" name="Graphique 37" descr="Gribouille contour">
            <a:extLst>
              <a:ext uri="{FF2B5EF4-FFF2-40B4-BE49-F238E27FC236}">
                <a16:creationId xmlns:a16="http://schemas.microsoft.com/office/drawing/2014/main" id="{E742ED69-E185-1C1F-D2FD-3F23D49830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 flipV="1">
            <a:off x="6829292" y="2558560"/>
            <a:ext cx="295208" cy="295208"/>
          </a:xfrm>
          <a:prstGeom prst="rect">
            <a:avLst/>
          </a:prstGeom>
        </p:spPr>
      </p:pic>
      <p:pic>
        <p:nvPicPr>
          <p:cNvPr id="48" name="Image 47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D442E3F3-3564-C08F-2848-29D747B1DD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645" y="3661298"/>
            <a:ext cx="1866900" cy="2806700"/>
          </a:xfrm>
          <a:prstGeom prst="rect">
            <a:avLst/>
          </a:prstGeom>
        </p:spPr>
      </p:pic>
      <p:pic>
        <p:nvPicPr>
          <p:cNvPr id="49" name="Image 48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63427242-957E-6353-AF60-917A3B7854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90445" y="3664089"/>
            <a:ext cx="1866900" cy="2806700"/>
          </a:xfrm>
          <a:prstGeom prst="rect">
            <a:avLst/>
          </a:prstGeom>
        </p:spPr>
      </p:pic>
      <p:pic>
        <p:nvPicPr>
          <p:cNvPr id="50" name="Image 49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7A80599A-D2AE-5802-A14B-891C848505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245" y="3661298"/>
            <a:ext cx="1866900" cy="2806700"/>
          </a:xfrm>
          <a:prstGeom prst="rect">
            <a:avLst/>
          </a:prstGeom>
        </p:spPr>
      </p:pic>
      <p:pic>
        <p:nvPicPr>
          <p:cNvPr id="51" name="Image 50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F3E37A2F-EE1C-556B-F04F-2F6F1E7D66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3241" y="3661298"/>
            <a:ext cx="1866900" cy="2806700"/>
          </a:xfrm>
          <a:prstGeom prst="rect">
            <a:avLst/>
          </a:prstGeom>
        </p:spPr>
      </p:pic>
      <p:pic>
        <p:nvPicPr>
          <p:cNvPr id="52" name="Image 51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1E2489B8-6DC1-4328-636D-E11E9AD6BB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9845" y="3661298"/>
            <a:ext cx="1866900" cy="28067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797F7A55-C132-97D2-3DC0-5C33DCD34F29}"/>
              </a:ext>
            </a:extLst>
          </p:cNvPr>
          <p:cNvSpPr txBox="1"/>
          <p:nvPr/>
        </p:nvSpPr>
        <p:spPr>
          <a:xfrm>
            <a:off x="8697512" y="544157"/>
            <a:ext cx="29115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Modèle « scénario à inventer » modifiable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2B5C788-6640-A217-D9C0-DC1030D8D7B7}"/>
              </a:ext>
            </a:extLst>
          </p:cNvPr>
          <p:cNvSpPr txBox="1"/>
          <p:nvPr/>
        </p:nvSpPr>
        <p:spPr>
          <a:xfrm>
            <a:off x="3917726" y="6555408"/>
            <a:ext cx="3248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Modèle « scénario à inventer » </a:t>
            </a:r>
            <a:r>
              <a:rPr lang="fr-FR" sz="1200" dirty="0" err="1"/>
              <a:t>imprimable.png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379531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5622354B-838D-D31C-F622-301C85FD7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56" y="3788229"/>
            <a:ext cx="1866900" cy="2806700"/>
          </a:xfrm>
          <a:prstGeom prst="rect">
            <a:avLst/>
          </a:prstGeom>
        </p:spPr>
      </p:pic>
      <p:pic>
        <p:nvPicPr>
          <p:cNvPr id="7" name="Image 6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E80E3835-664C-74C8-D11E-173130877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985" y="3788229"/>
            <a:ext cx="1866900" cy="2806700"/>
          </a:xfrm>
          <a:prstGeom prst="rect">
            <a:avLst/>
          </a:prstGeom>
        </p:spPr>
      </p:pic>
      <p:pic>
        <p:nvPicPr>
          <p:cNvPr id="8" name="Image 7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2C2BE722-7DEB-025B-B8E1-423F633F2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014" y="3788229"/>
            <a:ext cx="1866900" cy="2806700"/>
          </a:xfrm>
          <a:prstGeom prst="rect">
            <a:avLst/>
          </a:prstGeom>
        </p:spPr>
      </p:pic>
      <p:pic>
        <p:nvPicPr>
          <p:cNvPr id="9" name="Image 8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DB6C849B-C6F9-148D-52B5-672A5F215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7043" y="3788229"/>
            <a:ext cx="1866900" cy="2806700"/>
          </a:xfrm>
          <a:prstGeom prst="rect">
            <a:avLst/>
          </a:prstGeom>
        </p:spPr>
      </p:pic>
      <p:pic>
        <p:nvPicPr>
          <p:cNvPr id="10" name="Image 9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F47F12E3-3A2D-6143-8757-56413D1FF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8356" y="3788229"/>
            <a:ext cx="1866900" cy="2806700"/>
          </a:xfrm>
          <a:prstGeom prst="rect">
            <a:avLst/>
          </a:prstGeom>
        </p:spPr>
      </p:pic>
      <p:pic>
        <p:nvPicPr>
          <p:cNvPr id="11" name="Image 10" descr="Une image contenant texte, capture d’écran, Téléphone mobile, conception&#10;&#10;Le contenu généré par l’IA peut être incorrect.">
            <a:extLst>
              <a:ext uri="{FF2B5EF4-FFF2-40B4-BE49-F238E27FC236}">
                <a16:creationId xmlns:a16="http://schemas.microsoft.com/office/drawing/2014/main" id="{7E638311-2569-2043-DAB6-AAD96A29B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956" y="478064"/>
            <a:ext cx="1866900" cy="2832100"/>
          </a:xfrm>
          <a:prstGeom prst="rect">
            <a:avLst/>
          </a:prstGeom>
        </p:spPr>
      </p:pic>
      <p:pic>
        <p:nvPicPr>
          <p:cNvPr id="12" name="Image 11" descr="Une image contenant texte, capture d’écran, Téléphone mobile, conception&#10;&#10;Le contenu généré par l’IA peut être incorrect.">
            <a:extLst>
              <a:ext uri="{FF2B5EF4-FFF2-40B4-BE49-F238E27FC236}">
                <a16:creationId xmlns:a16="http://schemas.microsoft.com/office/drawing/2014/main" id="{00E63EC0-0AA3-B174-09AA-03937C436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7919" y="473528"/>
            <a:ext cx="1866900" cy="2832100"/>
          </a:xfrm>
          <a:prstGeom prst="rect">
            <a:avLst/>
          </a:prstGeom>
        </p:spPr>
      </p:pic>
      <p:pic>
        <p:nvPicPr>
          <p:cNvPr id="13" name="Image 12" descr="Une image contenant texte, capture d’écran, Téléphone mobile, conception&#10;&#10;Le contenu généré par l’IA peut être incorrect.">
            <a:extLst>
              <a:ext uri="{FF2B5EF4-FFF2-40B4-BE49-F238E27FC236}">
                <a16:creationId xmlns:a16="http://schemas.microsoft.com/office/drawing/2014/main" id="{8B4EC6CD-3A3C-9D8F-5467-5F43ED9B8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3291" y="473528"/>
            <a:ext cx="1866900" cy="2832100"/>
          </a:xfrm>
          <a:prstGeom prst="rect">
            <a:avLst/>
          </a:prstGeom>
        </p:spPr>
      </p:pic>
      <p:pic>
        <p:nvPicPr>
          <p:cNvPr id="14" name="Image 13" descr="Une image contenant texte, capture d’écran, Téléphone mobile, conception&#10;&#10;Le contenu généré par l’IA peut être incorrect.">
            <a:extLst>
              <a:ext uri="{FF2B5EF4-FFF2-40B4-BE49-F238E27FC236}">
                <a16:creationId xmlns:a16="http://schemas.microsoft.com/office/drawing/2014/main" id="{A356C9A0-535B-D2F5-ADF5-8189C0638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985" y="473528"/>
            <a:ext cx="1866900" cy="2832100"/>
          </a:xfrm>
          <a:prstGeom prst="rect">
            <a:avLst/>
          </a:prstGeom>
        </p:spPr>
      </p:pic>
      <p:pic>
        <p:nvPicPr>
          <p:cNvPr id="15" name="Image 14" descr="Une image contenant texte, capture d’écran, Téléphone mobile, conception&#10;&#10;Le contenu généré par l’IA peut être incorrect.">
            <a:extLst>
              <a:ext uri="{FF2B5EF4-FFF2-40B4-BE49-F238E27FC236}">
                <a16:creationId xmlns:a16="http://schemas.microsoft.com/office/drawing/2014/main" id="{C9C81EBC-F8E4-031E-A1E8-6013F3266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8356" y="418192"/>
            <a:ext cx="1866900" cy="28321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ED5598B-6CAF-1F0D-BA73-722732CF8C14}"/>
              </a:ext>
            </a:extLst>
          </p:cNvPr>
          <p:cNvSpPr txBox="1"/>
          <p:nvPr/>
        </p:nvSpPr>
        <p:spPr>
          <a:xfrm>
            <a:off x="4077206" y="102800"/>
            <a:ext cx="34015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Modèles « scénario à inventer » </a:t>
            </a:r>
            <a:r>
              <a:rPr lang="fr-FR" sz="1200" dirty="0" err="1"/>
              <a:t>imprimables.png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427635924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392</Words>
  <Application>Microsoft Macintosh PowerPoint</Application>
  <PresentationFormat>Grand écran</PresentationFormat>
  <Paragraphs>77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Audrey Avogadro</dc:creator>
  <cp:lastModifiedBy>Audrey Avogadro</cp:lastModifiedBy>
  <cp:revision>1</cp:revision>
  <dcterms:created xsi:type="dcterms:W3CDTF">2026-04-09T07:17:29Z</dcterms:created>
  <dcterms:modified xsi:type="dcterms:W3CDTF">2026-04-09T07:20:16Z</dcterms:modified>
</cp:coreProperties>
</file>