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5608EF-1BD1-D927-972B-B0F155C3B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8C10053-92B2-2A70-E7D8-71B0D3C86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5D5378-AB7A-1D00-D577-4BF13480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66F0A1-58F4-6076-4095-AB6A7779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08114F-70F4-BD93-23FE-87F07458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413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3ED463-62E7-768F-F239-29FC6E0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1ED6BF-1B43-DC17-A9DD-B6EBCB851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AD1818-5852-EE6C-3DD0-5943B847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988418-0CD8-9E25-5466-16AA69248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756D55-3132-D46E-5C93-30518641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3013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6E31A-A54C-EE29-0B06-40FFCCDC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E799BA-F5AC-AB3E-AB7F-15B0F242E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F608F6-37BD-4A86-117E-5E5587F9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0E3523-B154-9323-1D9C-670EF9F0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695377-C156-E4D3-5179-078C048B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5611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6BD253-3D20-BA02-4C07-016A9F24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F2906A-1E51-D23F-A0E7-4FE3E445D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BCA594-5EC9-21A3-2CAA-B9437E486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93EF5C-9FBE-2F37-58F1-1FA20B1C6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18FA63-0E3D-80E2-8ABB-088C465ED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69549D-DE34-7253-3663-F2C022B72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03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7AD4F6-EA45-78CC-550F-67D9215C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95AB47-5D19-1CEE-EBB0-A1DF2AE8F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F33F07-2343-15AB-E4DA-35A7D3511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8D54079-7D7E-4A07-AB8C-087FFE3A9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B42CC76-6222-337D-5AC3-3960755600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E51FA3E-7D43-51C1-20D8-C2F650A8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D52BFA-CCBF-EC14-1C95-C57891E1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EAB98A9-5B4E-0034-FEE6-C2B8CF263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4930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0F6F3D-25D1-F00D-88A1-221FCEB91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81FEF41-9AF8-B137-CB0B-7BB333AA5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38F905-C7DF-36A3-CDAF-D542AD7DB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4A0BE71-64D1-55FF-E586-E6EA6985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575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32E5387-0401-D071-7098-73A8D73D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8C71A62-A215-8429-37D5-4A1C7467B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CA6B30-1D28-F220-ECAF-E7AB8240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7673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35B894-1EB0-5548-D9B1-4C62D295D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17BAD9-2DFA-394D-9B14-327668A5B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9174339-B191-093D-82F7-28CB021B4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CBB43DB-0EAC-F29D-A089-130EDAC6E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3793C9-E908-DBA4-E113-675A1A167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2956E9-60B4-6113-2E32-6FEE2FAD7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72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3B9F49-D8A8-73D4-BC22-DEB4E927B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6DCAF83-07F5-D34A-064D-C0D2AE348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5810E7-F9AE-0F6A-CC64-A80900C9C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A10719-4A59-753E-EED6-1F68DE537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18D183-7052-26DB-B9A8-806BF951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796373-C1E9-FAEE-62B5-36F4687A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51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DB3985-AD2E-ED88-D043-5EE2DA1F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DD10CB-DBF6-4A72-AC73-4A61BF971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321AD2-C14E-2DF1-15ED-E752769D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A42B51-A471-7657-847B-4669B1CB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B6D1CB-4FDD-BB0D-73A3-0C97A85F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0805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7B10588-64F7-1D44-BD37-83BF2976B7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42F4B0B-9CFB-F032-6738-1BAB89834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4503E0-A7B5-FCC4-3802-A58530F6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BCF392-6321-F4C9-0D05-23299C59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1DF7E6-FA8E-8446-E848-FEB68321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29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D62B36B-E2A3-B312-9D94-8979D903C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98E3DD-01F5-7334-BD31-94A12759B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E39254-48D1-448A-1D41-861F62F9DC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0E160-5A21-A646-B753-C0D09BD8EA27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8DD812-7C2C-E569-1600-87F3FC891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7F8654-0AD3-39F0-0A60-A62A7DF1B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C9A00-D6D1-0043-885B-CFC0652AFB1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61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Texte 17">
            <a:extLst>
              <a:ext uri="{FF2B5EF4-FFF2-40B4-BE49-F238E27FC236}">
                <a16:creationId xmlns:a16="http://schemas.microsoft.com/office/drawing/2014/main" id="{8E7FEB3D-09DD-8BCF-516F-49A3ED27CC18}"/>
              </a:ext>
            </a:extLst>
          </p:cNvPr>
          <p:cNvSpPr txBox="1"/>
          <p:nvPr/>
        </p:nvSpPr>
        <p:spPr>
          <a:xfrm>
            <a:off x="5659777" y="210282"/>
            <a:ext cx="3817510" cy="715089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FICHE OBSERVATEUR</a:t>
            </a:r>
          </a:p>
          <a:p>
            <a:pPr algn="ctr"/>
            <a:r>
              <a:rPr lang="fr-FR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Relever des faits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C07F08-89A5-5405-5B44-503A2B4E5F71}"/>
              </a:ext>
            </a:extLst>
          </p:cNvPr>
          <p:cNvSpPr txBox="1"/>
          <p:nvPr/>
        </p:nvSpPr>
        <p:spPr>
          <a:xfrm>
            <a:off x="709831" y="3156585"/>
            <a:ext cx="2618210" cy="272415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fr-FR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B9049F29-814F-BF6F-F7FC-3F2E025986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223" t="34587" r="12919" b="23035"/>
          <a:stretch>
            <a:fillRect/>
          </a:stretch>
        </p:blipFill>
        <p:spPr>
          <a:xfrm>
            <a:off x="634172" y="3429000"/>
            <a:ext cx="2740705" cy="1740559"/>
          </a:xfrm>
          <a:prstGeom prst="rect">
            <a:avLst/>
          </a:prstGeom>
        </p:spPr>
      </p:pic>
      <p:sp>
        <p:nvSpPr>
          <p:cNvPr id="10" name="Ellipse 9">
            <a:extLst>
              <a:ext uri="{FF2B5EF4-FFF2-40B4-BE49-F238E27FC236}">
                <a16:creationId xmlns:a16="http://schemas.microsoft.com/office/drawing/2014/main" id="{F79792EB-CD01-6664-F83A-7F0ADA5D821A}"/>
              </a:ext>
            </a:extLst>
          </p:cNvPr>
          <p:cNvSpPr/>
          <p:nvPr/>
        </p:nvSpPr>
        <p:spPr>
          <a:xfrm>
            <a:off x="531414" y="3134507"/>
            <a:ext cx="659757" cy="63660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" name="Graphique 8" descr="Drame contour">
            <a:extLst>
              <a:ext uri="{FF2B5EF4-FFF2-40B4-BE49-F238E27FC236}">
                <a16:creationId xmlns:a16="http://schemas.microsoft.com/office/drawing/2014/main" id="{C2B6D29A-B252-7140-81DF-74171EEE42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173" y="3246289"/>
            <a:ext cx="457200" cy="45720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1D4709C3-FE19-0E81-F91C-28F89F62D2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721" t="35775" r="13365" b="22595"/>
          <a:stretch>
            <a:fillRect/>
          </a:stretch>
        </p:blipFill>
        <p:spPr>
          <a:xfrm>
            <a:off x="5026539" y="974925"/>
            <a:ext cx="4717774" cy="5436453"/>
          </a:xfrm>
          <a:prstGeom prst="rect">
            <a:avLst/>
          </a:prstGeom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5EAB8B55-6212-6F03-B348-763D366DE871}"/>
              </a:ext>
            </a:extLst>
          </p:cNvPr>
          <p:cNvSpPr/>
          <p:nvPr/>
        </p:nvSpPr>
        <p:spPr>
          <a:xfrm>
            <a:off x="4860208" y="198127"/>
            <a:ext cx="1089759" cy="104220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F434D23-B70B-7E36-D6BE-635C344197AD}"/>
              </a:ext>
            </a:extLst>
          </p:cNvPr>
          <p:cNvSpPr txBox="1"/>
          <p:nvPr/>
        </p:nvSpPr>
        <p:spPr>
          <a:xfrm>
            <a:off x="5155096" y="6411378"/>
            <a:ext cx="4403686" cy="27241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Observer avant d’interpréter – 4 indices maximum, au moins 2 catégories. 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852C431-9FAC-0982-4FEC-8CF5C73E103D}"/>
              </a:ext>
            </a:extLst>
          </p:cNvPr>
          <p:cNvSpPr/>
          <p:nvPr/>
        </p:nvSpPr>
        <p:spPr>
          <a:xfrm>
            <a:off x="5262914" y="1576130"/>
            <a:ext cx="1999096" cy="195143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__________________________________________________________________________________________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7E6CD2E-DBE5-B520-9283-2654871A7B74}"/>
              </a:ext>
            </a:extLst>
          </p:cNvPr>
          <p:cNvSpPr/>
          <p:nvPr/>
        </p:nvSpPr>
        <p:spPr>
          <a:xfrm>
            <a:off x="7498385" y="1576130"/>
            <a:ext cx="1978902" cy="195143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__________________________________________________________________________________________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E6DF3B60-250C-E89D-116C-51351B3D186C}"/>
              </a:ext>
            </a:extLst>
          </p:cNvPr>
          <p:cNvSpPr/>
          <p:nvPr/>
        </p:nvSpPr>
        <p:spPr>
          <a:xfrm>
            <a:off x="5236591" y="4015411"/>
            <a:ext cx="1978902" cy="195143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__________________________________________________________________________________________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10E96BEC-7606-1D8C-CF2E-A3ACA6488394}"/>
              </a:ext>
            </a:extLst>
          </p:cNvPr>
          <p:cNvSpPr/>
          <p:nvPr/>
        </p:nvSpPr>
        <p:spPr>
          <a:xfrm>
            <a:off x="7498385" y="4015410"/>
            <a:ext cx="1978902" cy="195143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bg1">
                    <a:lumMod val="75000"/>
                  </a:schemeClr>
                </a:solidFill>
              </a:rPr>
              <a:t>__________________________________________________________________________________________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F2CF3D0-0A77-4956-729C-D88A670ABE32}"/>
              </a:ext>
            </a:extLst>
          </p:cNvPr>
          <p:cNvSpPr/>
          <p:nvPr/>
        </p:nvSpPr>
        <p:spPr>
          <a:xfrm>
            <a:off x="5486400" y="1319584"/>
            <a:ext cx="1219200" cy="394499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Indices verbaux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9285D96D-FD3F-7297-344A-81D171BBCF92}"/>
              </a:ext>
            </a:extLst>
          </p:cNvPr>
          <p:cNvSpPr/>
          <p:nvPr/>
        </p:nvSpPr>
        <p:spPr>
          <a:xfrm>
            <a:off x="7779836" y="1347421"/>
            <a:ext cx="1219200" cy="394499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Indices  non verbaux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45BF101F-2573-6727-C0F1-3341998115F6}"/>
              </a:ext>
            </a:extLst>
          </p:cNvPr>
          <p:cNvSpPr/>
          <p:nvPr/>
        </p:nvSpPr>
        <p:spPr>
          <a:xfrm>
            <a:off x="5486400" y="3742995"/>
            <a:ext cx="1219200" cy="394499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Indices contextuels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9ED5234-8BAA-B350-15E3-75DF23725B7D}"/>
              </a:ext>
            </a:extLst>
          </p:cNvPr>
          <p:cNvSpPr/>
          <p:nvPr/>
        </p:nvSpPr>
        <p:spPr>
          <a:xfrm>
            <a:off x="7779836" y="3742995"/>
            <a:ext cx="1219200" cy="394499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Justification observable</a:t>
            </a:r>
          </a:p>
        </p:txBody>
      </p:sp>
      <p:pic>
        <p:nvPicPr>
          <p:cNvPr id="28" name="Graphique 27" descr="Œil contour">
            <a:extLst>
              <a:ext uri="{FF2B5EF4-FFF2-40B4-BE49-F238E27FC236}">
                <a16:creationId xmlns:a16="http://schemas.microsoft.com/office/drawing/2014/main" id="{C5294CDF-9C3F-152B-3178-C0B34DA128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11456" y="317972"/>
            <a:ext cx="960872" cy="802511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AB2AF378-3037-79D1-6D6D-87062B7D8F28}"/>
              </a:ext>
            </a:extLst>
          </p:cNvPr>
          <p:cNvSpPr txBox="1"/>
          <p:nvPr/>
        </p:nvSpPr>
        <p:spPr>
          <a:xfrm>
            <a:off x="709831" y="5194072"/>
            <a:ext cx="2665046" cy="44267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fr-FR" sz="1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fr-FR" sz="1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C9A6A102-1D36-48FE-D961-9052E1747E9B}"/>
              </a:ext>
            </a:extLst>
          </p:cNvPr>
          <p:cNvSpPr txBox="1"/>
          <p:nvPr/>
        </p:nvSpPr>
        <p:spPr>
          <a:xfrm>
            <a:off x="709830" y="2817240"/>
            <a:ext cx="2618210" cy="272415"/>
          </a:xfrm>
          <a:prstGeom prst="round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</a:t>
            </a:r>
            <a:r>
              <a:rPr lang="fr-CH" sz="1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È</a:t>
            </a:r>
            <a:r>
              <a:rPr lang="fr-F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 </a:t>
            </a:r>
            <a:r>
              <a:rPr lang="fr-CH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À</a:t>
            </a:r>
            <a:r>
              <a:rPr lang="fr-F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JOUER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812F78E-724E-7885-F146-7FA8FB6039ED}"/>
              </a:ext>
            </a:extLst>
          </p:cNvPr>
          <p:cNvSpPr txBox="1"/>
          <p:nvPr/>
        </p:nvSpPr>
        <p:spPr>
          <a:xfrm>
            <a:off x="897721" y="450937"/>
            <a:ext cx="2263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Modèles modifiables</a:t>
            </a:r>
          </a:p>
        </p:txBody>
      </p:sp>
    </p:spTree>
    <p:extLst>
      <p:ext uri="{BB962C8B-B14F-4D97-AF65-F5344CB8AC3E}">
        <p14:creationId xmlns:p14="http://schemas.microsoft.com/office/powerpoint/2010/main" val="2593616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122BC24D-2C0B-811F-6A5C-EFDE2C5CA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" y="1655418"/>
            <a:ext cx="3578976" cy="3547163"/>
          </a:xfrm>
          <a:prstGeom prst="rect">
            <a:avLst/>
          </a:prstGeom>
        </p:spPr>
      </p:pic>
      <p:pic>
        <p:nvPicPr>
          <p:cNvPr id="8" name="Image 7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DE29137E-F7CC-5325-5ADD-746E2468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181" y="1655418"/>
            <a:ext cx="3578976" cy="3547163"/>
          </a:xfrm>
          <a:prstGeom prst="rect">
            <a:avLst/>
          </a:prstGeom>
        </p:spPr>
      </p:pic>
      <p:pic>
        <p:nvPicPr>
          <p:cNvPr id="9" name="Image 8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BF89C1C6-E748-2D43-C4C0-E3725C32B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362" y="1655418"/>
            <a:ext cx="3578976" cy="354716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C848087-0DAD-72BA-2EC8-C479F4934E2B}"/>
              </a:ext>
            </a:extLst>
          </p:cNvPr>
          <p:cNvSpPr txBox="1"/>
          <p:nvPr/>
        </p:nvSpPr>
        <p:spPr>
          <a:xfrm>
            <a:off x="897721" y="450937"/>
            <a:ext cx="4619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Modèles.png</a:t>
            </a:r>
            <a:r>
              <a:rPr lang="fr-FR" dirty="0"/>
              <a:t> vierges, prêts à être complétés.</a:t>
            </a:r>
          </a:p>
        </p:txBody>
      </p:sp>
    </p:spTree>
    <p:extLst>
      <p:ext uri="{BB962C8B-B14F-4D97-AF65-F5344CB8AC3E}">
        <p14:creationId xmlns:p14="http://schemas.microsoft.com/office/powerpoint/2010/main" val="424768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 descr="Une image contenant texte, capture d’écran, nombre, conception&#10;&#10;Le contenu généré par l’IA peut être incorrect.">
            <a:extLst>
              <a:ext uri="{FF2B5EF4-FFF2-40B4-BE49-F238E27FC236}">
                <a16:creationId xmlns:a16="http://schemas.microsoft.com/office/drawing/2014/main" id="{91830ABA-88AA-3645-E5E6-746C7463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823" y="177800"/>
            <a:ext cx="4889500" cy="6502400"/>
          </a:xfrm>
          <a:prstGeom prst="rect">
            <a:avLst/>
          </a:prstGeom>
        </p:spPr>
      </p:pic>
      <p:pic>
        <p:nvPicPr>
          <p:cNvPr id="16" name="Image 15" descr="Une image contenant texte, capture d’écran, nombre, conception&#10;&#10;Le contenu généré par l’IA peut être incorrect.">
            <a:extLst>
              <a:ext uri="{FF2B5EF4-FFF2-40B4-BE49-F238E27FC236}">
                <a16:creationId xmlns:a16="http://schemas.microsoft.com/office/drawing/2014/main" id="{B26AF4E8-5598-5C31-D044-87978EE60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726" y="177800"/>
            <a:ext cx="4889500" cy="65024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18EC6D8-F324-442D-EC6B-879494FDEDFF}"/>
              </a:ext>
            </a:extLst>
          </p:cNvPr>
          <p:cNvSpPr txBox="1"/>
          <p:nvPr/>
        </p:nvSpPr>
        <p:spPr>
          <a:xfrm>
            <a:off x="255774" y="425885"/>
            <a:ext cx="14703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Modèles.png</a:t>
            </a:r>
            <a:endParaRPr lang="fr-FR" dirty="0"/>
          </a:p>
          <a:p>
            <a:r>
              <a:rPr lang="fr-FR" dirty="0"/>
              <a:t>Prêts à être </a:t>
            </a:r>
          </a:p>
          <a:p>
            <a:r>
              <a:rPr lang="fr-FR" dirty="0"/>
              <a:t>imprimés</a:t>
            </a:r>
          </a:p>
        </p:txBody>
      </p:sp>
    </p:spTree>
    <p:extLst>
      <p:ext uri="{BB962C8B-B14F-4D97-AF65-F5344CB8AC3E}">
        <p14:creationId xmlns:p14="http://schemas.microsoft.com/office/powerpoint/2010/main" val="37065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01C5D738-6D94-E8AA-952B-D878DFD4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05" y="1858083"/>
            <a:ext cx="3578976" cy="354716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6C196664-ED8A-8E82-6A82-DBEFDA2CF393}"/>
              </a:ext>
            </a:extLst>
          </p:cNvPr>
          <p:cNvSpPr txBox="1"/>
          <p:nvPr/>
        </p:nvSpPr>
        <p:spPr>
          <a:xfrm>
            <a:off x="1170126" y="2305702"/>
            <a:ext cx="2495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Lecture à voix haute imprévue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4E19CDA-FEFC-9144-1FF7-B095EDA893BE}"/>
              </a:ext>
            </a:extLst>
          </p:cNvPr>
          <p:cNvSpPr txBox="1"/>
          <p:nvPr/>
        </p:nvSpPr>
        <p:spPr>
          <a:xfrm>
            <a:off x="604619" y="3061098"/>
            <a:ext cx="33105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En français, la classe lit un texte à tour de rôle.</a:t>
            </a:r>
            <a:br>
              <a:rPr lang="fr-CH" sz="1200" dirty="0"/>
            </a:br>
            <a:r>
              <a:rPr lang="fr-CH" sz="1200" dirty="0"/>
              <a:t>L’enseignant demande soudain à un élève de prendre la suite.</a:t>
            </a:r>
            <a:br>
              <a:rPr lang="fr-CH" sz="1200" dirty="0"/>
            </a:br>
            <a:r>
              <a:rPr lang="fr-CH" sz="1200" dirty="0"/>
              <a:t>L’élève regarde son cahier, tarde à commencer et dit qu’il a perdu la ligne.</a:t>
            </a:r>
            <a:br>
              <a:rPr lang="fr-CH" sz="1200" dirty="0"/>
            </a:br>
            <a:r>
              <a:rPr lang="fr-CH" sz="1200" dirty="0"/>
              <a:t>Quelques camarades attendent en silence pendant que le tour reste suspendu.</a:t>
            </a:r>
            <a:endParaRPr lang="fr-FR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86A2B06-B863-5BFF-B81B-986B0C6A395D}"/>
              </a:ext>
            </a:extLst>
          </p:cNvPr>
          <p:cNvSpPr txBox="1"/>
          <p:nvPr/>
        </p:nvSpPr>
        <p:spPr>
          <a:xfrm>
            <a:off x="1633319" y="4893712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attend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8F33471-3836-DCBB-6A6E-AE0936C8FD75}"/>
              </a:ext>
            </a:extLst>
          </p:cNvPr>
          <p:cNvSpPr txBox="1"/>
          <p:nvPr/>
        </p:nvSpPr>
        <p:spPr>
          <a:xfrm>
            <a:off x="604619" y="4939878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  <p:pic>
        <p:nvPicPr>
          <p:cNvPr id="16" name="Image 15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615BDDD6-46C5-15FA-37E6-B602EC9BD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81" y="1850010"/>
            <a:ext cx="3578976" cy="3547163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A6802028-BBF9-4E23-77EA-85B65588BE44}"/>
              </a:ext>
            </a:extLst>
          </p:cNvPr>
          <p:cNvSpPr txBox="1"/>
          <p:nvPr/>
        </p:nvSpPr>
        <p:spPr>
          <a:xfrm>
            <a:off x="5100214" y="2305702"/>
            <a:ext cx="1613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Choix des groupes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31A3B43-9F31-E4E8-A985-223DC876FFB6}"/>
              </a:ext>
            </a:extLst>
          </p:cNvPr>
          <p:cNvSpPr txBox="1"/>
          <p:nvPr/>
        </p:nvSpPr>
        <p:spPr>
          <a:xfrm>
            <a:off x="4247095" y="3053025"/>
            <a:ext cx="33105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La classe doit former des groupes de trois pour un travail.</a:t>
            </a:r>
            <a:br>
              <a:rPr lang="fr-CH" sz="1200" dirty="0"/>
            </a:br>
            <a:r>
              <a:rPr lang="fr-CH" sz="1200" dirty="0"/>
              <a:t>Les élèves se déplacent vite et s’installent entre amis.</a:t>
            </a:r>
            <a:br>
              <a:rPr lang="fr-CH" sz="1200" dirty="0"/>
            </a:br>
            <a:r>
              <a:rPr lang="fr-CH" sz="1200" dirty="0"/>
              <a:t>Un élève reste debout avec sa fiche à la main, regarde plusieurs tables puis revient près de sa chaise.</a:t>
            </a:r>
            <a:br>
              <a:rPr lang="fr-CH" sz="1200" dirty="0"/>
            </a:br>
            <a:r>
              <a:rPr lang="fr-CH" sz="1200" dirty="0"/>
              <a:t>L’enseignant rappelle qu’il faut se dépêcher.</a:t>
            </a:r>
            <a:endParaRPr lang="fr-FR" sz="12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F4BEDFC-445C-DB9F-5BCD-FC788CD979E3}"/>
              </a:ext>
            </a:extLst>
          </p:cNvPr>
          <p:cNvSpPr txBox="1"/>
          <p:nvPr/>
        </p:nvSpPr>
        <p:spPr>
          <a:xfrm>
            <a:off x="5275795" y="4885639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2 + groupe-classe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FABC640-2051-144E-845C-D6C464899FDD}"/>
              </a:ext>
            </a:extLst>
          </p:cNvPr>
          <p:cNvSpPr txBox="1"/>
          <p:nvPr/>
        </p:nvSpPr>
        <p:spPr>
          <a:xfrm>
            <a:off x="4247095" y="4931805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4 + </a:t>
            </a:r>
            <a:endParaRPr lang="fr-CH" sz="900" dirty="0"/>
          </a:p>
        </p:txBody>
      </p:sp>
      <p:pic>
        <p:nvPicPr>
          <p:cNvPr id="21" name="Image 20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E826774E-DC8A-3FB5-259F-38F3A6F85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238" y="1858083"/>
            <a:ext cx="3578976" cy="3547163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B851D950-3241-4236-21A3-931AD155F0F9}"/>
              </a:ext>
            </a:extLst>
          </p:cNvPr>
          <p:cNvSpPr txBox="1"/>
          <p:nvPr/>
        </p:nvSpPr>
        <p:spPr>
          <a:xfrm>
            <a:off x="8567159" y="2305702"/>
            <a:ext cx="2054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Conflit discret en classe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6678066-5325-7A1A-3588-F4347313404E}"/>
              </a:ext>
            </a:extLst>
          </p:cNvPr>
          <p:cNvSpPr txBox="1"/>
          <p:nvPr/>
        </p:nvSpPr>
        <p:spPr>
          <a:xfrm>
            <a:off x="8001652" y="3061098"/>
            <a:ext cx="33105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Durant un exercice individuel, deux élèves échangent à voix basse.</a:t>
            </a:r>
            <a:br>
              <a:rPr lang="fr-CH" sz="1200" dirty="0"/>
            </a:br>
            <a:r>
              <a:rPr lang="fr-CH" sz="1200" dirty="0"/>
              <a:t>L’un pousse légèrement la trousse de l’autre et murmure quelque chose.</a:t>
            </a:r>
            <a:br>
              <a:rPr lang="fr-CH" sz="1200" dirty="0"/>
            </a:br>
            <a:r>
              <a:rPr lang="fr-CH" sz="1200" dirty="0"/>
              <a:t>L’autre se retourne plusieurs fois, serre son crayon et cesse d’écrire.</a:t>
            </a:r>
            <a:br>
              <a:rPr lang="fr-CH" sz="1200" dirty="0"/>
            </a:br>
            <a:r>
              <a:rPr lang="fr-CH" sz="1200" dirty="0"/>
              <a:t>L’activité continue pendant que le bruit de fond augmente.</a:t>
            </a:r>
            <a:endParaRPr lang="fr-FR" sz="12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647BDAA-4D5B-C42A-5241-007212DE766E}"/>
              </a:ext>
            </a:extLst>
          </p:cNvPr>
          <p:cNvSpPr txBox="1"/>
          <p:nvPr/>
        </p:nvSpPr>
        <p:spPr>
          <a:xfrm>
            <a:off x="9030352" y="4893712"/>
            <a:ext cx="1796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ou groupe-classe</a:t>
            </a:r>
          </a:p>
          <a:p>
            <a:r>
              <a:rPr lang="fr-CH" sz="800" dirty="0"/>
              <a:t>2 élèves sollicités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7E7FED3-58F2-AF7A-9D68-0AAC87FA02D8}"/>
              </a:ext>
            </a:extLst>
          </p:cNvPr>
          <p:cNvSpPr txBox="1"/>
          <p:nvPr/>
        </p:nvSpPr>
        <p:spPr>
          <a:xfrm>
            <a:off x="8001652" y="4939878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5ED3328-92DC-543F-4870-2DEB5365724F}"/>
              </a:ext>
            </a:extLst>
          </p:cNvPr>
          <p:cNvSpPr txBox="1"/>
          <p:nvPr/>
        </p:nvSpPr>
        <p:spPr>
          <a:xfrm>
            <a:off x="5100214" y="275572"/>
            <a:ext cx="2637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Set de 12 scènes à jouer </a:t>
            </a:r>
          </a:p>
        </p:txBody>
      </p:sp>
    </p:spTree>
    <p:extLst>
      <p:ext uri="{BB962C8B-B14F-4D97-AF65-F5344CB8AC3E}">
        <p14:creationId xmlns:p14="http://schemas.microsoft.com/office/powerpoint/2010/main" val="977248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7F76F2FB-648C-2194-9CF9-D3E377365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91" y="1331989"/>
            <a:ext cx="3578976" cy="354716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156F501-9DE8-E776-3587-070AF0012704}"/>
              </a:ext>
            </a:extLst>
          </p:cNvPr>
          <p:cNvSpPr txBox="1"/>
          <p:nvPr/>
        </p:nvSpPr>
        <p:spPr>
          <a:xfrm>
            <a:off x="1307912" y="1779608"/>
            <a:ext cx="1845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Interrogation surprise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AE10ECC-4FA4-5FE5-160F-0D6DFB563C2E}"/>
              </a:ext>
            </a:extLst>
          </p:cNvPr>
          <p:cNvSpPr txBox="1"/>
          <p:nvPr/>
        </p:nvSpPr>
        <p:spPr>
          <a:xfrm>
            <a:off x="742405" y="2535004"/>
            <a:ext cx="33105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Au milieu d’une explication, l’enseignant pose une question directe à un élève peu bavard.</a:t>
            </a:r>
            <a:br>
              <a:rPr lang="fr-CH" sz="1200" dirty="0"/>
            </a:br>
            <a:r>
              <a:rPr lang="fr-CH" sz="1200" dirty="0"/>
              <a:t>Plusieurs têtes se tournent vers lui.</a:t>
            </a:r>
            <a:br>
              <a:rPr lang="fr-CH" sz="1200" dirty="0"/>
            </a:br>
            <a:r>
              <a:rPr lang="fr-CH" sz="1200" dirty="0"/>
              <a:t>L’élève se redresse, ouvre la bouche puis dit qu’il ne sait plus.</a:t>
            </a:r>
            <a:br>
              <a:rPr lang="fr-CH" sz="1200" dirty="0"/>
            </a:br>
            <a:r>
              <a:rPr lang="fr-CH" sz="1200" dirty="0"/>
              <a:t>L’enseignant attend quelques secondes avant de reformuler.</a:t>
            </a:r>
            <a:endParaRPr lang="fr-FR" sz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E4AED9B-6E5C-944D-43C9-18196741AC06}"/>
              </a:ext>
            </a:extLst>
          </p:cNvPr>
          <p:cNvSpPr txBox="1"/>
          <p:nvPr/>
        </p:nvSpPr>
        <p:spPr>
          <a:xfrm>
            <a:off x="1771105" y="4367618"/>
            <a:ext cx="19716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interrogé</a:t>
            </a:r>
          </a:p>
          <a:p>
            <a:r>
              <a:rPr lang="fr-CH" sz="800" dirty="0"/>
              <a:t>1 + groupe-classe / pair qui se tourne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4D92070-C154-0066-810E-663B2BDEA474}"/>
              </a:ext>
            </a:extLst>
          </p:cNvPr>
          <p:cNvSpPr txBox="1"/>
          <p:nvPr/>
        </p:nvSpPr>
        <p:spPr>
          <a:xfrm>
            <a:off x="742405" y="441378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  <p:pic>
        <p:nvPicPr>
          <p:cNvPr id="9" name="Image 8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A37B13AA-B1F9-6F7F-F66F-0B608231E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48" y="1331989"/>
            <a:ext cx="3578976" cy="354716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B67C626-5CD6-C823-8FCA-B6D52828402D}"/>
              </a:ext>
            </a:extLst>
          </p:cNvPr>
          <p:cNvSpPr txBox="1"/>
          <p:nvPr/>
        </p:nvSpPr>
        <p:spPr>
          <a:xfrm>
            <a:off x="5062469" y="1779608"/>
            <a:ext cx="2180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Retour de récréation agité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4AF55BC-13FD-FF86-23E2-24A9B1A83642}"/>
              </a:ext>
            </a:extLst>
          </p:cNvPr>
          <p:cNvSpPr txBox="1"/>
          <p:nvPr/>
        </p:nvSpPr>
        <p:spPr>
          <a:xfrm>
            <a:off x="4496962" y="2535004"/>
            <a:ext cx="33105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La classe revient de récréation, encore bruyante.</a:t>
            </a:r>
            <a:br>
              <a:rPr lang="fr-CH" sz="1200" dirty="0"/>
            </a:br>
            <a:r>
              <a:rPr lang="fr-CH" sz="1200" dirty="0"/>
              <a:t>Les manteaux ne sont pas tous rangés et plusieurs élèves parlent en même temps.</a:t>
            </a:r>
            <a:br>
              <a:rPr lang="fr-CH" sz="1200" dirty="0"/>
            </a:br>
            <a:r>
              <a:rPr lang="fr-CH" sz="1200" dirty="0"/>
              <a:t>Un élève reste près de la porte, garde son sac sur l’épaule et ne s’installe pas tout de suite.</a:t>
            </a:r>
            <a:br>
              <a:rPr lang="fr-CH" sz="1200" dirty="0"/>
            </a:br>
            <a:r>
              <a:rPr lang="fr-CH" sz="1200" dirty="0"/>
              <a:t>L’enseignant demande à chacun de se mettre rapidement au travail.</a:t>
            </a:r>
            <a:endParaRPr 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5266A78-1829-FE88-D031-935252CA884C}"/>
              </a:ext>
            </a:extLst>
          </p:cNvPr>
          <p:cNvSpPr txBox="1"/>
          <p:nvPr/>
        </p:nvSpPr>
        <p:spPr>
          <a:xfrm>
            <a:off x="5525662" y="4367618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2 + groupe-classe / pair qui attend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BAB2118-60AE-2EC6-3057-F23274E37962}"/>
              </a:ext>
            </a:extLst>
          </p:cNvPr>
          <p:cNvSpPr txBox="1"/>
          <p:nvPr/>
        </p:nvSpPr>
        <p:spPr>
          <a:xfrm>
            <a:off x="4496962" y="441378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4 + </a:t>
            </a:r>
            <a:endParaRPr lang="fr-CH" sz="900" dirty="0"/>
          </a:p>
        </p:txBody>
      </p:sp>
      <p:pic>
        <p:nvPicPr>
          <p:cNvPr id="14" name="Image 1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86C320B2-3242-A205-84E7-04EA03AC1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324" y="1331989"/>
            <a:ext cx="3578976" cy="354716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D57AEB9E-7FDC-2AA1-DEB4-C61DB2BDDEA8}"/>
              </a:ext>
            </a:extLst>
          </p:cNvPr>
          <p:cNvSpPr txBox="1"/>
          <p:nvPr/>
        </p:nvSpPr>
        <p:spPr>
          <a:xfrm>
            <a:off x="8692245" y="1779608"/>
            <a:ext cx="22123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Retour après une absence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9BB6130-08D6-28B9-FC6B-6A7451757298}"/>
              </a:ext>
            </a:extLst>
          </p:cNvPr>
          <p:cNvSpPr txBox="1"/>
          <p:nvPr/>
        </p:nvSpPr>
        <p:spPr>
          <a:xfrm>
            <a:off x="8126738" y="2535004"/>
            <a:ext cx="3310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Un élève revient en classe après plusieurs jours d’absence.</a:t>
            </a:r>
            <a:br>
              <a:rPr lang="fr-CH" sz="1200" dirty="0"/>
            </a:br>
            <a:r>
              <a:rPr lang="fr-CH" sz="1200" dirty="0"/>
              <a:t>La séance a déjà commencé et les autres ont leur matériel ouvert.</a:t>
            </a:r>
            <a:br>
              <a:rPr lang="fr-CH" sz="1200" dirty="0"/>
            </a:br>
            <a:r>
              <a:rPr lang="fr-CH" sz="1200" dirty="0"/>
              <a:t>L’élève regarde la feuille distribuée, observe les voisins puis demande à mi-voix ce qu’il faut faire.</a:t>
            </a:r>
            <a:br>
              <a:rPr lang="fr-CH" sz="1200" dirty="0"/>
            </a:br>
            <a:r>
              <a:rPr lang="fr-CH" sz="1200" dirty="0"/>
              <a:t>L’enseignant répond tout en poursuivant l’activité avec le groupe.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7C4C17B-F341-CE41-14CA-DA60771E8A91}"/>
              </a:ext>
            </a:extLst>
          </p:cNvPr>
          <p:cNvSpPr txBox="1"/>
          <p:nvPr/>
        </p:nvSpPr>
        <p:spPr>
          <a:xfrm>
            <a:off x="9155438" y="4367618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attend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D30E72F-7160-E877-632C-EC106F490B3D}"/>
              </a:ext>
            </a:extLst>
          </p:cNvPr>
          <p:cNvSpPr txBox="1"/>
          <p:nvPr/>
        </p:nvSpPr>
        <p:spPr>
          <a:xfrm>
            <a:off x="8126738" y="4413784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</p:spTree>
    <p:extLst>
      <p:ext uri="{BB962C8B-B14F-4D97-AF65-F5344CB8AC3E}">
        <p14:creationId xmlns:p14="http://schemas.microsoft.com/office/powerpoint/2010/main" val="2313746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C63BB7CF-5402-9673-7D3F-C7F5E508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88" y="1432198"/>
            <a:ext cx="3578976" cy="354716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DCFD6DB-F5B1-AD47-47CF-6DE750474B23}"/>
              </a:ext>
            </a:extLst>
          </p:cNvPr>
          <p:cNvSpPr txBox="1"/>
          <p:nvPr/>
        </p:nvSpPr>
        <p:spPr>
          <a:xfrm>
            <a:off x="1257809" y="1879817"/>
            <a:ext cx="2430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Consigne complexe et rapide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CEC0A3D-FFC7-5785-21B3-3EB3C854F8F7}"/>
              </a:ext>
            </a:extLst>
          </p:cNvPr>
          <p:cNvSpPr txBox="1"/>
          <p:nvPr/>
        </p:nvSpPr>
        <p:spPr>
          <a:xfrm>
            <a:off x="692302" y="2635213"/>
            <a:ext cx="3310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L’enseignant donne une nouvelle activité avec plusieurs étapes à suivre.</a:t>
            </a:r>
            <a:br>
              <a:rPr lang="fr-CH" sz="1200" dirty="0"/>
            </a:br>
            <a:r>
              <a:rPr lang="fr-CH" sz="1200" dirty="0"/>
              <a:t>Il parle sans écrire la consigne au tableau et distribue le matériel en même temps.</a:t>
            </a:r>
            <a:br>
              <a:rPr lang="fr-CH" sz="1200" dirty="0"/>
            </a:br>
            <a:r>
              <a:rPr lang="fr-CH" sz="1200" dirty="0"/>
              <a:t>Un élève regarde successivement la feuille, les mains de l’enseignant et ses camarades sans commencer.</a:t>
            </a:r>
            <a:br>
              <a:rPr lang="fr-CH" sz="1200" dirty="0"/>
            </a:br>
            <a:r>
              <a:rPr lang="fr-CH" sz="1200" dirty="0"/>
              <a:t>Quand le travail démarre, il demande ce qu’il faut faire en premier.</a:t>
            </a:r>
            <a:endParaRPr lang="fr-FR" sz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8E3C717-E2CF-86AE-5C71-C13091C62538}"/>
              </a:ext>
            </a:extLst>
          </p:cNvPr>
          <p:cNvSpPr txBox="1"/>
          <p:nvPr/>
        </p:nvSpPr>
        <p:spPr>
          <a:xfrm>
            <a:off x="1721002" y="4467827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attend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1F45E6C-8E61-E890-F4BF-1EBC517AF771}"/>
              </a:ext>
            </a:extLst>
          </p:cNvPr>
          <p:cNvSpPr txBox="1"/>
          <p:nvPr/>
        </p:nvSpPr>
        <p:spPr>
          <a:xfrm>
            <a:off x="692302" y="4513993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  <p:pic>
        <p:nvPicPr>
          <p:cNvPr id="9" name="Image 8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09802890-DDD4-AD16-88FC-1F74B383E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445" y="1432198"/>
            <a:ext cx="3578976" cy="354716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9723217-D8E3-1E8F-E721-24C0DEB38116}"/>
              </a:ext>
            </a:extLst>
          </p:cNvPr>
          <p:cNvSpPr txBox="1"/>
          <p:nvPr/>
        </p:nvSpPr>
        <p:spPr>
          <a:xfrm>
            <a:off x="5012366" y="1879817"/>
            <a:ext cx="19802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Bruit de fond important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7CC63EF-F085-D38A-FCC5-2CE54EE155F1}"/>
              </a:ext>
            </a:extLst>
          </p:cNvPr>
          <p:cNvSpPr txBox="1"/>
          <p:nvPr/>
        </p:nvSpPr>
        <p:spPr>
          <a:xfrm>
            <a:off x="4446859" y="2635213"/>
            <a:ext cx="33105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La classe travaille en ateliers, avec plusieurs échanges en parallèle.</a:t>
            </a:r>
            <a:br>
              <a:rPr lang="fr-CH" sz="1200" dirty="0"/>
            </a:br>
            <a:r>
              <a:rPr lang="fr-CH" sz="1200" dirty="0"/>
              <a:t>Le niveau sonore monte progressivement.</a:t>
            </a:r>
            <a:br>
              <a:rPr lang="fr-CH" sz="1200" dirty="0"/>
            </a:br>
            <a:r>
              <a:rPr lang="fr-CH" sz="1200" dirty="0"/>
              <a:t>Un élève se retourne souvent, pose ses mains sur ses oreilles quelques secondes puis regarde sa feuille sans écrire.</a:t>
            </a:r>
            <a:br>
              <a:rPr lang="fr-CH" sz="1200" dirty="0"/>
            </a:br>
            <a:r>
              <a:rPr lang="fr-CH" sz="1200" dirty="0"/>
              <a:t>L’enseignant circule d’un groupe à l’autre.</a:t>
            </a:r>
            <a:endParaRPr 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10641EB-1920-9E68-C44B-E741481D3A42}"/>
              </a:ext>
            </a:extLst>
          </p:cNvPr>
          <p:cNvSpPr txBox="1"/>
          <p:nvPr/>
        </p:nvSpPr>
        <p:spPr>
          <a:xfrm>
            <a:off x="5475559" y="4467827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2 + groupe-classe / pairs qui parlent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4DCF678-5602-CDEF-ED30-C6AE00C87E47}"/>
              </a:ext>
            </a:extLst>
          </p:cNvPr>
          <p:cNvSpPr txBox="1"/>
          <p:nvPr/>
        </p:nvSpPr>
        <p:spPr>
          <a:xfrm>
            <a:off x="4446859" y="4513993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4 + </a:t>
            </a:r>
            <a:endParaRPr lang="fr-CH" sz="900" dirty="0"/>
          </a:p>
        </p:txBody>
      </p:sp>
      <p:pic>
        <p:nvPicPr>
          <p:cNvPr id="14" name="Image 1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C3DE2463-FE58-AA91-09EE-6CC2376EC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835" y="1432198"/>
            <a:ext cx="3578976" cy="354716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1FA892BA-A565-D0F9-5B92-3793368FFBF8}"/>
              </a:ext>
            </a:extLst>
          </p:cNvPr>
          <p:cNvSpPr txBox="1"/>
          <p:nvPr/>
        </p:nvSpPr>
        <p:spPr>
          <a:xfrm>
            <a:off x="8859756" y="1879817"/>
            <a:ext cx="1701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Temps limité visible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EF5B1DC-83AC-88D6-7250-55D3F449FCAA}"/>
              </a:ext>
            </a:extLst>
          </p:cNvPr>
          <p:cNvSpPr txBox="1"/>
          <p:nvPr/>
        </p:nvSpPr>
        <p:spPr>
          <a:xfrm>
            <a:off x="8294249" y="2635213"/>
            <a:ext cx="3310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Pour l’exercice, un minuteur est projeté au tableau.</a:t>
            </a:r>
            <a:br>
              <a:rPr lang="fr-CH" sz="1200" dirty="0"/>
            </a:br>
            <a:r>
              <a:rPr lang="fr-CH" sz="1200" dirty="0"/>
              <a:t>Les élèves voient les secondes défiler pendant qu’ils travaillent.</a:t>
            </a:r>
            <a:br>
              <a:rPr lang="fr-CH" sz="1200" dirty="0"/>
            </a:br>
            <a:r>
              <a:rPr lang="fr-CH" sz="1200" dirty="0"/>
              <a:t>Un élève regarde souvent l’écran, tourne sa gomme entre ses doigts et demande s’il faut vraiment finir avant la sonnerie.</a:t>
            </a:r>
            <a:br>
              <a:rPr lang="fr-CH" sz="1200" dirty="0"/>
            </a:br>
            <a:r>
              <a:rPr lang="fr-CH" sz="1200" dirty="0"/>
              <a:t>Autour de lui, plusieurs élèves accélèrent le rythme.</a:t>
            </a:r>
            <a:endParaRPr lang="fr-FR" sz="12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D8F3C63-49B9-7DFE-1B67-B0D9305E517F}"/>
              </a:ext>
            </a:extLst>
          </p:cNvPr>
          <p:cNvSpPr txBox="1"/>
          <p:nvPr/>
        </p:nvSpPr>
        <p:spPr>
          <a:xfrm>
            <a:off x="9322949" y="4467827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accélère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1B4C93C-0E7C-D67D-98A2-7C6EC155F177}"/>
              </a:ext>
            </a:extLst>
          </p:cNvPr>
          <p:cNvSpPr txBox="1"/>
          <p:nvPr/>
        </p:nvSpPr>
        <p:spPr>
          <a:xfrm>
            <a:off x="8294249" y="4513993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</p:spTree>
    <p:extLst>
      <p:ext uri="{BB962C8B-B14F-4D97-AF65-F5344CB8AC3E}">
        <p14:creationId xmlns:p14="http://schemas.microsoft.com/office/powerpoint/2010/main" val="301370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F9AE1033-8464-9833-01A6-EDB008C1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57" y="1655418"/>
            <a:ext cx="3578976" cy="354716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C89F3D3-0C33-7E04-8C04-03AEC7E9788D}"/>
              </a:ext>
            </a:extLst>
          </p:cNvPr>
          <p:cNvSpPr txBox="1"/>
          <p:nvPr/>
        </p:nvSpPr>
        <p:spPr>
          <a:xfrm>
            <a:off x="1195178" y="2103037"/>
            <a:ext cx="2055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Moquerie à peine visible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5F4544B-3845-4040-4129-B701D75B93BD}"/>
              </a:ext>
            </a:extLst>
          </p:cNvPr>
          <p:cNvSpPr txBox="1"/>
          <p:nvPr/>
        </p:nvSpPr>
        <p:spPr>
          <a:xfrm>
            <a:off x="629671" y="2858433"/>
            <a:ext cx="33105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Pendant un travail écrit, un élève lève la main pour poser une question.</a:t>
            </a:r>
            <a:br>
              <a:rPr lang="fr-CH" sz="1200" dirty="0"/>
            </a:br>
            <a:r>
              <a:rPr lang="fr-CH" sz="1200" dirty="0"/>
              <a:t>Un camarade à côté souffle quelques mots et ricane discrètement.</a:t>
            </a:r>
            <a:br>
              <a:rPr lang="fr-CH" sz="1200" dirty="0"/>
            </a:br>
            <a:r>
              <a:rPr lang="fr-CH" sz="1200" dirty="0"/>
              <a:t>L’élève baisse la main, se tourne vers sa feuille et n’appelle plus l’enseignant.</a:t>
            </a:r>
            <a:br>
              <a:rPr lang="fr-CH" sz="1200" dirty="0"/>
            </a:br>
            <a:r>
              <a:rPr lang="fr-CH" sz="1200" dirty="0"/>
              <a:t>Le reste de la classe continue à travailler.</a:t>
            </a:r>
            <a:endParaRPr lang="fr-FR" sz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0514CB8-4861-0B64-A30E-F83D802CFDD9}"/>
              </a:ext>
            </a:extLst>
          </p:cNvPr>
          <p:cNvSpPr txBox="1"/>
          <p:nvPr/>
        </p:nvSpPr>
        <p:spPr>
          <a:xfrm>
            <a:off x="1658371" y="4691047"/>
            <a:ext cx="1988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se moque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C756A6A-A10A-B999-60AF-0BAA30F991BA}"/>
              </a:ext>
            </a:extLst>
          </p:cNvPr>
          <p:cNvSpPr txBox="1"/>
          <p:nvPr/>
        </p:nvSpPr>
        <p:spPr>
          <a:xfrm>
            <a:off x="629671" y="4737213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  <p:pic>
        <p:nvPicPr>
          <p:cNvPr id="9" name="Image 8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7D926855-0BDB-C99B-441E-8C6AB602D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512" y="1655418"/>
            <a:ext cx="3578976" cy="3547163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160A907-D1B2-A525-E27E-B2D54CD35C09}"/>
              </a:ext>
            </a:extLst>
          </p:cNvPr>
          <p:cNvSpPr txBox="1"/>
          <p:nvPr/>
        </p:nvSpPr>
        <p:spPr>
          <a:xfrm>
            <a:off x="5101981" y="2114722"/>
            <a:ext cx="2754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Objet oublié / matériel manquant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A139C34-3736-F3B1-C3C3-EB5F4BE28B65}"/>
              </a:ext>
            </a:extLst>
          </p:cNvPr>
          <p:cNvSpPr txBox="1"/>
          <p:nvPr/>
        </p:nvSpPr>
        <p:spPr>
          <a:xfrm>
            <a:off x="4574926" y="2858433"/>
            <a:ext cx="3310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Au début d’une activité, les élèves doivent sortir une règle et un feutre.</a:t>
            </a:r>
            <a:br>
              <a:rPr lang="fr-CH" sz="1200" dirty="0"/>
            </a:br>
            <a:r>
              <a:rPr lang="fr-CH" sz="1200" dirty="0"/>
              <a:t>Un élève vide sa trousse puis regarde dans son sac.</a:t>
            </a:r>
            <a:br>
              <a:rPr lang="fr-CH" sz="1200" dirty="0"/>
            </a:br>
            <a:r>
              <a:rPr lang="fr-CH" sz="1200" dirty="0"/>
              <a:t>Il demande doucement s’il peut faire sans et laisse sa feuille de côté pendant que les autres commencent.</a:t>
            </a:r>
            <a:br>
              <a:rPr lang="fr-CH" sz="1200" dirty="0"/>
            </a:br>
            <a:r>
              <a:rPr lang="fr-CH" sz="1200" dirty="0"/>
              <a:t>L’enseignant circule pour vérifier la mise en route.</a:t>
            </a:r>
            <a:endParaRPr lang="fr-FR" sz="12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56D8D43-E72E-36D7-C1DB-F5700CD4ABD4}"/>
              </a:ext>
            </a:extLst>
          </p:cNvPr>
          <p:cNvSpPr txBox="1"/>
          <p:nvPr/>
        </p:nvSpPr>
        <p:spPr>
          <a:xfrm>
            <a:off x="5603626" y="4691047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1 élève sollicité</a:t>
            </a:r>
          </a:p>
          <a:p>
            <a:r>
              <a:rPr lang="fr-CH" sz="800" dirty="0"/>
              <a:t>1 + groupe-classe / pair qui attend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093978A-4F41-61B6-83DD-8ED375E72656}"/>
              </a:ext>
            </a:extLst>
          </p:cNvPr>
          <p:cNvSpPr txBox="1"/>
          <p:nvPr/>
        </p:nvSpPr>
        <p:spPr>
          <a:xfrm>
            <a:off x="4574926" y="4737213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3 + </a:t>
            </a:r>
            <a:endParaRPr lang="fr-CH" sz="900" dirty="0"/>
          </a:p>
        </p:txBody>
      </p:sp>
      <p:pic>
        <p:nvPicPr>
          <p:cNvPr id="14" name="Image 13" descr="Une image contenant texte, capture d’écran, Rectangle, conception&#10;&#10;Le contenu généré par l’IA peut être incorrect.">
            <a:extLst>
              <a:ext uri="{FF2B5EF4-FFF2-40B4-BE49-F238E27FC236}">
                <a16:creationId xmlns:a16="http://schemas.microsoft.com/office/drawing/2014/main" id="{96A42929-3ADA-42F4-60E0-63D4231C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927" y="1655418"/>
            <a:ext cx="3578976" cy="3547163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C6543404-2F4C-8C80-5688-CFE1F1537069}"/>
              </a:ext>
            </a:extLst>
          </p:cNvPr>
          <p:cNvSpPr txBox="1"/>
          <p:nvPr/>
        </p:nvSpPr>
        <p:spPr>
          <a:xfrm>
            <a:off x="9107848" y="2103037"/>
            <a:ext cx="2235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400" dirty="0">
                <a:solidFill>
                  <a:schemeClr val="bg1"/>
                </a:solidFill>
              </a:rPr>
              <a:t>Ressenti après un incident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7420D21-D410-347F-A71A-8CCF363027D1}"/>
              </a:ext>
            </a:extLst>
          </p:cNvPr>
          <p:cNvSpPr txBox="1"/>
          <p:nvPr/>
        </p:nvSpPr>
        <p:spPr>
          <a:xfrm>
            <a:off x="8542341" y="2858433"/>
            <a:ext cx="3310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200" dirty="0"/>
              <a:t>Après un échange tendu entre deux élèves, l’enseignant demande à l’un d’eux d’expliquer ce qu’il ressent.</a:t>
            </a:r>
            <a:br>
              <a:rPr lang="fr-CH" sz="1200" dirty="0"/>
            </a:br>
            <a:r>
              <a:rPr lang="fr-CH" sz="1200" dirty="0"/>
              <a:t>La classe est silencieuse et plusieurs regards se tournent vers lui.</a:t>
            </a:r>
            <a:br>
              <a:rPr lang="fr-CH" sz="1200" dirty="0"/>
            </a:br>
            <a:r>
              <a:rPr lang="fr-CH" sz="1200" dirty="0"/>
              <a:t>L’élève hausse les épaules, répond très brièvement puis se tait.</a:t>
            </a:r>
            <a:br>
              <a:rPr lang="fr-CH" sz="1200" dirty="0"/>
            </a:br>
            <a:r>
              <a:rPr lang="fr-CH" sz="1200" dirty="0"/>
              <a:t>L’enseignant attend avant de reprendre la parole.</a:t>
            </a:r>
            <a:endParaRPr lang="fr-FR" sz="12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3DC934D-8E47-A3CE-AB03-9C9D34911D37}"/>
              </a:ext>
            </a:extLst>
          </p:cNvPr>
          <p:cNvSpPr txBox="1"/>
          <p:nvPr/>
        </p:nvSpPr>
        <p:spPr>
          <a:xfrm>
            <a:off x="9571041" y="4691047"/>
            <a:ext cx="17960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800" dirty="0"/>
              <a:t>1 enseignant </a:t>
            </a:r>
          </a:p>
          <a:p>
            <a:r>
              <a:rPr lang="fr-CH" sz="800" dirty="0"/>
              <a:t>2 élèves impliqués</a:t>
            </a:r>
          </a:p>
          <a:p>
            <a:r>
              <a:rPr lang="fr-CH" sz="800" dirty="0"/>
              <a:t>1 + groupe-classe / pair qui attend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65D79BC-155F-674D-9690-B3AB5900C6D5}"/>
              </a:ext>
            </a:extLst>
          </p:cNvPr>
          <p:cNvSpPr txBox="1"/>
          <p:nvPr/>
        </p:nvSpPr>
        <p:spPr>
          <a:xfrm>
            <a:off x="8542341" y="4737213"/>
            <a:ext cx="853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fr-CH" sz="900" b="1" dirty="0"/>
              <a:t>Participants </a:t>
            </a:r>
          </a:p>
          <a:p>
            <a:pPr algn="ctr">
              <a:buNone/>
            </a:pPr>
            <a:r>
              <a:rPr lang="fr-CH" sz="900" b="1" dirty="0"/>
              <a:t>  4 + </a:t>
            </a:r>
            <a:endParaRPr lang="fr-CH" sz="900" dirty="0"/>
          </a:p>
        </p:txBody>
      </p:sp>
    </p:spTree>
    <p:extLst>
      <p:ext uri="{BB962C8B-B14F-4D97-AF65-F5344CB8AC3E}">
        <p14:creationId xmlns:p14="http://schemas.microsoft.com/office/powerpoint/2010/main" val="76959526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939</Words>
  <Application>Microsoft Macintosh PowerPoint</Application>
  <PresentationFormat>Grand écran</PresentationFormat>
  <Paragraphs>101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Audrey Avogadro</dc:creator>
  <cp:lastModifiedBy>Audrey Avogadro</cp:lastModifiedBy>
  <cp:revision>1</cp:revision>
  <dcterms:created xsi:type="dcterms:W3CDTF">2026-04-09T07:04:13Z</dcterms:created>
  <dcterms:modified xsi:type="dcterms:W3CDTF">2026-04-09T07:10:11Z</dcterms:modified>
</cp:coreProperties>
</file>